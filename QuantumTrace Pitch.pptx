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Adversaries are believed to be recording encrypted traffic today that they can't read yet. When quantum computers mature, Shor's algorithm breaks RSA and elliptic curves, and everything stored becomes readable. It's called harvest now, decrypt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companies can't say where their vulnerable cryptography is. In the code? In the cloud keys? In the network traffic? Nobody has that list. We built QuantumTrace to produce it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scanners read network captures, source code and cloud configuration. They feed one engine with one classification table: critical if Shor breaks it, medium if Grover weakens it, safe if it's AES-256 or post-quantum. That single result drives the risk score, a CycloneDX bill of materials and the migration roadmap. One Docker command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it's right? On the labelled starter kit, recall and precision are both 1.00. The other open-source scanners we compared find between 14 and 53 percent. On 32 real open-source projects there is no answer key, so we measured coverage: 7.6 times more cryptographic sites than the next tool. Over two thousand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it takes one command. Tomorrow it runs in CI, so every pull request updates the bill of materials. Regulators will ask where your cryptography is. With QuantumTrace the answer is already on screen. I'm Luca.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A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78025"/>
            <a:ext cx="8458200" cy="2159000"/>
          </a:xfrm>
          <a:prstGeom prst="rect">
            <a:avLst/>
          </a:prstGeom>
          <a:noFill/>
          <a:ln/>
        </p:spPr>
        <p:txBody>
          <a:bodyPr wrap="square" lIns="0" tIns="0" rIns="0" bIns="0" rtlCol="0" anchor="t"/>
          <a:lstStyle>
            <a:lvl1pPr algn="l" indent="0" marL="0">
              <a:lnSpc>
                <a:spcPct val="110000"/>
              </a:lnSpc>
              <a:buNone/>
              <a:defRPr lang="en-US" sz="6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10000"/>
              </a:lnSpc>
              <a:buNone/>
            </a:pPr>
            <a:endParaRPr lang="en-US" sz="6600" dirty="0"/>
          </a:p>
        </p:txBody>
      </p:sp>
      <p:sp>
        <p:nvSpPr>
          <p:cNvPr id="3" name="Text Placeholder 2"/>
          <p:cNvSpPr/>
          <p:nvPr>
            <p:ph idx="101" type="body"/>
          </p:nvPr>
        </p:nvSpPr>
        <p:spPr>
          <a:xfrm>
            <a:off x="812800" y="4441825"/>
            <a:ext cx="10566400" cy="1603375"/>
          </a:xfrm>
          <a:prstGeom prst="rect">
            <a:avLst/>
          </a:prstGeom>
          <a:noFill/>
          <a:ln/>
        </p:spPr>
        <p:txBody>
          <a:bodyPr wrap="square" lIns="0" tIns="0" rIns="0" bIns="0" rtlCol="0" anchor="t"/>
          <a:lstStyle>
            <a:lvl1pPr algn="l" indent="0" marL="0">
              <a:lnSpc>
                <a:spcPct val="140000"/>
              </a:lnSpc>
              <a:buNone/>
              <a:defRPr lang="en-US" sz="1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978025"/>
            <a:ext cx="8458200" cy="2159000"/>
          </a:xfrm>
          <a:prstGeom prst="rect">
            <a:avLst/>
          </a:prstGeom>
          <a:noFill/>
          <a:ln/>
        </p:spPr>
        <p:txBody>
          <a:bodyPr wrap="square" lIns="0" tIns="0" rIns="0" bIns="0" rtlCol="0" anchor="t"/>
          <a:lstStyle>
            <a:lvl1pPr algn="l" indent="0" marL="0">
              <a:lnSpc>
                <a:spcPct val="110000"/>
              </a:lnSpc>
              <a:buNone/>
              <a:defRPr lang="en-US" sz="6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10000"/>
              </a:lnSpc>
              <a:buNone/>
            </a:pPr>
            <a:endParaRPr lang="en-US" sz="6600" dirty="0"/>
          </a:p>
        </p:txBody>
      </p:sp>
      <p:sp>
        <p:nvSpPr>
          <p:cNvPr id="3" name="Text Placeholder 2"/>
          <p:cNvSpPr/>
          <p:nvPr>
            <p:ph idx="101" type="body"/>
          </p:nvPr>
        </p:nvSpPr>
        <p:spPr>
          <a:xfrm>
            <a:off x="812800" y="4441825"/>
            <a:ext cx="10566400" cy="1603375"/>
          </a:xfrm>
          <a:prstGeom prst="rect">
            <a:avLst/>
          </a:prstGeom>
          <a:noFill/>
          <a:ln/>
        </p:spPr>
        <p:txBody>
          <a:bodyPr wrap="square" lIns="0" tIns="0" rIns="0" bIns="0" rtlCol="0" anchor="t"/>
          <a:lstStyle>
            <a:lvl1pPr algn="l" indent="0" marL="0">
              <a:lnSpc>
                <a:spcPct val="140000"/>
              </a:lnSpc>
              <a:buNone/>
              <a:defRPr lang="en-US" sz="1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978025"/>
            <a:ext cx="8458200" cy="2159000"/>
          </a:xfrm>
          <a:prstGeom prst="rect">
            <a:avLst/>
          </a:prstGeom>
          <a:noFill/>
          <a:ln/>
        </p:spPr>
        <p:txBody>
          <a:bodyPr wrap="square" lIns="0" tIns="0" rIns="0" bIns="0" rtlCol="0" anchor="t"/>
          <a:lstStyle>
            <a:lvl1pPr algn="l" indent="0" marL="0">
              <a:lnSpc>
                <a:spcPct val="110000"/>
              </a:lnSpc>
              <a:buNone/>
              <a:defRPr lang="en-US" sz="6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10000"/>
              </a:lnSpc>
              <a:buNone/>
            </a:pPr>
            <a:endParaRPr lang="en-US" sz="6600" dirty="0"/>
          </a:p>
        </p:txBody>
      </p:sp>
      <p:sp>
        <p:nvSpPr>
          <p:cNvPr id="3" name="Text Placeholder 2"/>
          <p:cNvSpPr/>
          <p:nvPr>
            <p:ph idx="101" type="body"/>
          </p:nvPr>
        </p:nvSpPr>
        <p:spPr>
          <a:xfrm>
            <a:off x="812800" y="4441825"/>
            <a:ext cx="10566400" cy="1603375"/>
          </a:xfrm>
          <a:prstGeom prst="rect">
            <a:avLst/>
          </a:prstGeom>
          <a:noFill/>
          <a:ln/>
        </p:spPr>
        <p:txBody>
          <a:bodyPr wrap="square" lIns="0" tIns="0" rIns="0" bIns="0" rtlCol="0" anchor="t"/>
          <a:lstStyle>
            <a:lvl1pPr algn="l" indent="0" marL="0">
              <a:lnSpc>
                <a:spcPct val="140000"/>
              </a:lnSpc>
              <a:buNone/>
              <a:defRPr lang="en-US" sz="1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978025"/>
            <a:ext cx="8458200" cy="2159000"/>
          </a:xfrm>
          <a:prstGeom prst="rect">
            <a:avLst/>
          </a:prstGeom>
          <a:noFill/>
          <a:ln/>
        </p:spPr>
        <p:txBody>
          <a:bodyPr wrap="square" lIns="0" tIns="0" rIns="0" bIns="0" rtlCol="0" anchor="t"/>
          <a:lstStyle>
            <a:lvl1pPr algn="l" indent="0" marL="0">
              <a:lnSpc>
                <a:spcPct val="110000"/>
              </a:lnSpc>
              <a:buNone/>
              <a:defRPr lang="en-US" sz="6600" dirty="0">
                <a:solidFill>
                  <a:srgbClr val="1A1F2E"/>
                </a:solidFill>
                <a:latin typeface="Familjen Grotesk" pitchFamily="34" charset="0"/>
                <a:ea typeface="Familjen Grotesk" pitchFamily="34" charset="-122"/>
                <a:cs typeface="Familjen Grotesk" pitchFamily="34" charset="-120"/>
              </a:defRPr>
            </a:lvl1pPr>
          </a:lstStyle>
          <a:p>
            <a:pPr algn="l" indent="0" marL="0">
              <a:lnSpc>
                <a:spcPct val="110000"/>
              </a:lnSpc>
              <a:buNone/>
            </a:pPr>
            <a:endParaRPr lang="en-US" sz="6600" dirty="0"/>
          </a:p>
        </p:txBody>
      </p:sp>
      <p:sp>
        <p:nvSpPr>
          <p:cNvPr id="3" name="Text Placeholder 2"/>
          <p:cNvSpPr/>
          <p:nvPr>
            <p:ph idx="101" type="body"/>
          </p:nvPr>
        </p:nvSpPr>
        <p:spPr>
          <a:xfrm>
            <a:off x="812800" y="4441825"/>
            <a:ext cx="10566400" cy="1603375"/>
          </a:xfrm>
          <a:prstGeom prst="rect">
            <a:avLst/>
          </a:prstGeom>
          <a:noFill/>
          <a:ln/>
        </p:spPr>
        <p:txBody>
          <a:bodyPr wrap="square" lIns="0" tIns="0" rIns="0" bIns="0" rtlCol="0" anchor="t"/>
          <a:lstStyle>
            <a:lvl1pPr algn="l" indent="0" marL="0">
              <a:lnSpc>
                <a:spcPct val="140000"/>
              </a:lnSpc>
              <a:buNone/>
              <a:defRPr lang="en-US" sz="1600" dirty="0">
                <a:solidFill>
                  <a:srgbClr val="1A1F2E"/>
                </a:solidFill>
                <a:latin typeface="Familjen Grotesk" pitchFamily="34" charset="0"/>
                <a:ea typeface="Familjen Grotesk" pitchFamily="34" charset="-122"/>
                <a:cs typeface="Familjen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1F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78025"/>
            <a:ext cx="8458200" cy="2159000"/>
          </a:xfrm>
          <a:prstGeom prst="rect">
            <a:avLst/>
          </a:prstGeom>
          <a:noFill/>
          <a:ln/>
        </p:spPr>
        <p:txBody>
          <a:bodyPr wrap="square" lIns="0" tIns="0" rIns="0" bIns="0" rtlCol="0" anchor="t"/>
          <a:lstStyle>
            <a:lvl1pPr algn="l" indent="0" marL="0">
              <a:lnSpc>
                <a:spcPct val="110000"/>
              </a:lnSpc>
              <a:buNone/>
              <a:defRPr lang="en-US" sz="6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10000"/>
              </a:lnSpc>
              <a:buNone/>
            </a:pPr>
            <a:endParaRPr lang="en-US" sz="6600" dirty="0"/>
          </a:p>
        </p:txBody>
      </p:sp>
      <p:sp>
        <p:nvSpPr>
          <p:cNvPr id="3" name="Text Placeholder 2"/>
          <p:cNvSpPr/>
          <p:nvPr>
            <p:ph idx="101" type="body"/>
          </p:nvPr>
        </p:nvSpPr>
        <p:spPr>
          <a:xfrm>
            <a:off x="812800" y="4441825"/>
            <a:ext cx="10566400" cy="1603375"/>
          </a:xfrm>
          <a:prstGeom prst="rect">
            <a:avLst/>
          </a:prstGeom>
          <a:noFill/>
          <a:ln/>
        </p:spPr>
        <p:txBody>
          <a:bodyPr wrap="square" lIns="0" tIns="0" rIns="0" bIns="0" rtlCol="0" anchor="t"/>
          <a:lstStyle>
            <a:lvl1pPr algn="l" indent="0" marL="0">
              <a:lnSpc>
                <a:spcPct val="140000"/>
              </a:lnSpc>
              <a:buNone/>
              <a:defRPr lang="en-US" sz="1600" dirty="0">
                <a:solidFill>
                  <a:srgbClr val="F0F4F8"/>
                </a:solidFill>
                <a:latin typeface="Familjen Grotesk" pitchFamily="34" charset="0"/>
                <a:ea typeface="Familjen Grotesk" pitchFamily="34" charset="-122"/>
                <a:cs typeface="Familjen Grotesk"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3429000"/>
            <a:ext cx="12192000" cy="6350"/>
          </a:xfrm>
          <a:prstGeom prst="rect">
            <a:avLst/>
          </a:prstGeom>
          <a:solidFill>
            <a:srgbClr val="4A90B8">
              <a:alpha val="10000"/>
            </a:srgbClr>
          </a:solidFill>
          <a:ln/>
        </p:spPr>
      </p:sp>
      <p:sp>
        <p:nvSpPr>
          <p:cNvPr id="3" name="Shape 1"/>
          <p:cNvSpPr/>
          <p:nvPr/>
        </p:nvSpPr>
        <p:spPr>
          <a:xfrm>
            <a:off x="6096000" y="0"/>
            <a:ext cx="6350" cy="6858000"/>
          </a:xfrm>
          <a:prstGeom prst="rect">
            <a:avLst/>
          </a:prstGeom>
          <a:solidFill>
            <a:srgbClr val="4A90B8">
              <a:alpha val="10000"/>
            </a:srgbClr>
          </a:solidFill>
          <a:ln/>
        </p:spPr>
      </p:sp>
      <p:sp>
        <p:nvSpPr>
          <p:cNvPr id="4" name="Shape 2"/>
          <p:cNvSpPr/>
          <p:nvPr/>
        </p:nvSpPr>
        <p:spPr>
          <a:xfrm>
            <a:off x="228600" y="241300"/>
            <a:ext cx="254000" cy="0"/>
          </a:xfrm>
          <a:prstGeom prst="line">
            <a:avLst/>
          </a:prstGeom>
          <a:noFill/>
          <a:ln w="25400">
            <a:solidFill>
              <a:srgbClr val="5BBFB5"/>
            </a:solidFill>
            <a:prstDash val="solid"/>
          </a:ln>
        </p:spPr>
      </p:sp>
      <p:sp>
        <p:nvSpPr>
          <p:cNvPr id="5" name="Shape 3"/>
          <p:cNvSpPr/>
          <p:nvPr/>
        </p:nvSpPr>
        <p:spPr>
          <a:xfrm>
            <a:off x="241300" y="228600"/>
            <a:ext cx="0" cy="254000"/>
          </a:xfrm>
          <a:prstGeom prst="line">
            <a:avLst/>
          </a:prstGeom>
          <a:noFill/>
          <a:ln w="25400">
            <a:solidFill>
              <a:srgbClr val="5BBFB5"/>
            </a:solidFill>
            <a:prstDash val="solid"/>
          </a:ln>
        </p:spPr>
      </p:sp>
      <p:sp>
        <p:nvSpPr>
          <p:cNvPr id="6" name="Shape 4"/>
          <p:cNvSpPr/>
          <p:nvPr/>
        </p:nvSpPr>
        <p:spPr>
          <a:xfrm>
            <a:off x="11709400" y="241300"/>
            <a:ext cx="254000" cy="0"/>
          </a:xfrm>
          <a:prstGeom prst="line">
            <a:avLst/>
          </a:prstGeom>
          <a:noFill/>
          <a:ln w="25400">
            <a:solidFill>
              <a:srgbClr val="4A90B8"/>
            </a:solidFill>
            <a:prstDash val="solid"/>
          </a:ln>
        </p:spPr>
      </p:sp>
      <p:sp>
        <p:nvSpPr>
          <p:cNvPr id="7" name="Shape 5"/>
          <p:cNvSpPr/>
          <p:nvPr/>
        </p:nvSpPr>
        <p:spPr>
          <a:xfrm>
            <a:off x="11950700" y="228600"/>
            <a:ext cx="0" cy="254000"/>
          </a:xfrm>
          <a:prstGeom prst="line">
            <a:avLst/>
          </a:prstGeom>
          <a:noFill/>
          <a:ln w="25400">
            <a:solidFill>
              <a:srgbClr val="4A90B8"/>
            </a:solidFill>
            <a:prstDash val="solid"/>
          </a:ln>
        </p:spPr>
      </p:sp>
      <p:sp>
        <p:nvSpPr>
          <p:cNvPr id="8" name="Shape 6"/>
          <p:cNvSpPr/>
          <p:nvPr/>
        </p:nvSpPr>
        <p:spPr>
          <a:xfrm>
            <a:off x="228600" y="6616700"/>
            <a:ext cx="254000" cy="0"/>
          </a:xfrm>
          <a:prstGeom prst="line">
            <a:avLst/>
          </a:prstGeom>
          <a:noFill/>
          <a:ln w="25400">
            <a:solidFill>
              <a:srgbClr val="4A90B8"/>
            </a:solidFill>
            <a:prstDash val="solid"/>
          </a:ln>
        </p:spPr>
      </p:sp>
      <p:sp>
        <p:nvSpPr>
          <p:cNvPr id="9" name="Shape 7"/>
          <p:cNvSpPr/>
          <p:nvPr/>
        </p:nvSpPr>
        <p:spPr>
          <a:xfrm>
            <a:off x="241300" y="6375400"/>
            <a:ext cx="0" cy="254000"/>
          </a:xfrm>
          <a:prstGeom prst="line">
            <a:avLst/>
          </a:prstGeom>
          <a:noFill/>
          <a:ln w="25400">
            <a:solidFill>
              <a:srgbClr val="4A90B8"/>
            </a:solidFill>
            <a:prstDash val="solid"/>
          </a:ln>
        </p:spPr>
      </p:sp>
      <p:sp>
        <p:nvSpPr>
          <p:cNvPr id="10" name="Shape 8"/>
          <p:cNvSpPr/>
          <p:nvPr/>
        </p:nvSpPr>
        <p:spPr>
          <a:xfrm>
            <a:off x="11950700" y="6375400"/>
            <a:ext cx="0" cy="254000"/>
          </a:xfrm>
          <a:prstGeom prst="line">
            <a:avLst/>
          </a:prstGeom>
          <a:noFill/>
          <a:ln w="25400">
            <a:solidFill>
              <a:srgbClr val="5BBFB5"/>
            </a:solidFill>
            <a:prstDash val="solid"/>
          </a:ln>
        </p:spPr>
      </p:sp>
      <p:sp>
        <p:nvSpPr>
          <p:cNvPr id="11" name="Shape 9"/>
          <p:cNvSpPr/>
          <p:nvPr/>
        </p:nvSpPr>
        <p:spPr>
          <a:xfrm>
            <a:off x="11709400" y="6616700"/>
            <a:ext cx="254000" cy="0"/>
          </a:xfrm>
          <a:prstGeom prst="line">
            <a:avLst/>
          </a:prstGeom>
          <a:noFill/>
          <a:ln w="25400">
            <a:solidFill>
              <a:srgbClr val="5BBFB5"/>
            </a:solidFill>
            <a:prstDash val="solid"/>
          </a:ln>
        </p:spPr>
      </p:sp>
      <p:sp>
        <p:nvSpPr>
          <p:cNvPr id="12" name="Text 1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5BBFB5"/>
                </a:solidFill>
                <a:latin typeface="DM Mono" pitchFamily="49" charset="0"/>
                <a:ea typeface="DM Mono" pitchFamily="49" charset="-122"/>
                <a:cs typeface="DM Mono" pitchFamily="49" charset="-120"/>
              </a:rPr>
              <a:t>QUANTUMTRACE · JUNCTIONX LISBON 2026 · BEDROCK</a:t>
            </a:r>
            <a:endParaRPr lang="en-US" sz="1400" dirty="0"/>
          </a:p>
        </p:txBody>
      </p:sp>
      <p:sp>
        <p:nvSpPr>
          <p:cNvPr id="13" name="Text 11"/>
          <p:cNvSpPr/>
          <p:nvPr>
            <p:ph type="title"/>
          </p:nvPr>
        </p:nvSpPr>
        <p:spPr>
          <a:xfrm>
            <a:off x="812800" y="1952625"/>
            <a:ext cx="10883392" cy="1943100"/>
          </a:xfrm>
          <a:prstGeom prst="rect">
            <a:avLst/>
          </a:prstGeom>
          <a:noFill/>
          <a:ln/>
        </p:spPr>
        <p:txBody>
          <a:bodyPr wrap="square" lIns="0" tIns="0" rIns="0" bIns="0" rtlCol="0" anchor="t">
            <a:normAutofit/>
          </a:bodyPr>
          <a:lstStyle/>
          <a:p>
            <a:pPr algn="l" indent="0" marL="0">
              <a:lnSpc>
                <a:spcPts val="7560"/>
              </a:lnSpc>
              <a:buNone/>
            </a:pPr>
            <a:r>
              <a:rPr lang="en-US" sz="7200" b="1" i="0" spc="-150" kern="0" dirty="0">
                <a:solidFill>
                  <a:srgbClr val="F0F4F8"/>
                </a:solidFill>
                <a:latin typeface="Familjen Grotesk" pitchFamily="34" charset="0"/>
                <a:ea typeface="Familjen Grotesk" pitchFamily="34" charset="-122"/>
                <a:cs typeface="Familjen Grotesk" pitchFamily="34" charset="-120"/>
              </a:rPr>
              <a:t>Harvest now,</a:t>
            </a:r>
            <a:endParaRPr lang="en-US" sz="7200" dirty="0"/>
          </a:p>
          <a:p>
            <a:pPr algn="l" indent="0" marL="0">
              <a:lnSpc>
                <a:spcPts val="7560"/>
              </a:lnSpc>
              <a:buNone/>
            </a:pPr>
            <a:r>
              <a:rPr lang="en-US" sz="7200" b="1" i="0" spc="-150" kern="0" dirty="0">
                <a:solidFill>
                  <a:srgbClr val="F0F4F8"/>
                </a:solidFill>
                <a:latin typeface="Familjen Grotesk" pitchFamily="34" charset="0"/>
                <a:ea typeface="Familjen Grotesk" pitchFamily="34" charset="-122"/>
                <a:cs typeface="Familjen Grotesk" pitchFamily="34" charset="-120"/>
              </a:rPr>
              <a:t>decrypt later.</a:t>
            </a:r>
            <a:endParaRPr lang="en-US" sz="7200" dirty="0"/>
          </a:p>
        </p:txBody>
      </p:sp>
      <p:sp>
        <p:nvSpPr>
          <p:cNvPr id="14" name="Shape 12"/>
          <p:cNvSpPr/>
          <p:nvPr/>
        </p:nvSpPr>
        <p:spPr>
          <a:xfrm>
            <a:off x="812800" y="4905375"/>
            <a:ext cx="2980234" cy="0"/>
          </a:xfrm>
          <a:prstGeom prst="line">
            <a:avLst/>
          </a:prstGeom>
          <a:noFill/>
          <a:ln w="25400">
            <a:solidFill>
              <a:srgbClr val="4A90B8"/>
            </a:solidFill>
            <a:prstDash val="solid"/>
          </a:ln>
        </p:spPr>
      </p:sp>
      <p:sp>
        <p:nvSpPr>
          <p:cNvPr id="15" name="Text 13"/>
          <p:cNvSpPr/>
          <p:nvPr/>
        </p:nvSpPr>
        <p:spPr>
          <a:xfrm>
            <a:off x="812800" y="5070475"/>
            <a:ext cx="3069641"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A90B8"/>
                </a:solidFill>
                <a:latin typeface="DM Mono" pitchFamily="49" charset="0"/>
                <a:ea typeface="DM Mono" pitchFamily="49" charset="-122"/>
                <a:cs typeface="DM Mono" pitchFamily="49" charset="-120"/>
              </a:rPr>
              <a:t>TODAY</a:t>
            </a:r>
            <a:endParaRPr lang="en-US" sz="1400" dirty="0"/>
          </a:p>
        </p:txBody>
      </p:sp>
      <p:sp>
        <p:nvSpPr>
          <p:cNvPr id="16" name="Text 14"/>
          <p:cNvSpPr/>
          <p:nvPr/>
        </p:nvSpPr>
        <p:spPr>
          <a:xfrm>
            <a:off x="812800" y="5394325"/>
            <a:ext cx="3069641" cy="54610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Encrypted traffic is recorded, unreadable for now</a:t>
            </a:r>
            <a:endParaRPr lang="en-US" sz="1600" dirty="0"/>
          </a:p>
        </p:txBody>
      </p:sp>
      <p:pic>
        <p:nvPicPr>
          <p:cNvPr id="17" name="Image 0" descr="arrow-right">    </p:cNvPr>
          <p:cNvPicPr>
            <a:picLocks noChangeAspect="1"/>
          </p:cNvPicPr>
          <p:nvPr/>
        </p:nvPicPr>
        <p:blipFill>
          <a:blip r:embed="rId1"/>
          <a:srcRect l="0" r="0" t="0" b="0"/>
          <a:stretch/>
        </p:blipFill>
        <p:spPr>
          <a:xfrm>
            <a:off x="3970834" y="5276850"/>
            <a:ext cx="457200" cy="254000"/>
          </a:xfrm>
          <a:prstGeom prst="rect">
            <a:avLst/>
          </a:prstGeom>
        </p:spPr>
      </p:pic>
      <p:sp>
        <p:nvSpPr>
          <p:cNvPr id="18" name="Shape 15"/>
          <p:cNvSpPr/>
          <p:nvPr/>
        </p:nvSpPr>
        <p:spPr>
          <a:xfrm>
            <a:off x="4605834" y="4775200"/>
            <a:ext cx="2980234" cy="0"/>
          </a:xfrm>
          <a:prstGeom prst="line">
            <a:avLst/>
          </a:prstGeom>
          <a:noFill/>
          <a:ln w="25400">
            <a:solidFill>
              <a:srgbClr val="4A90B8"/>
            </a:solidFill>
            <a:prstDash val="solid"/>
          </a:ln>
        </p:spPr>
      </p:sp>
      <p:sp>
        <p:nvSpPr>
          <p:cNvPr id="19" name="Text 16"/>
          <p:cNvSpPr/>
          <p:nvPr/>
        </p:nvSpPr>
        <p:spPr>
          <a:xfrm>
            <a:off x="4605834" y="4940300"/>
            <a:ext cx="3069641"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A90B8"/>
                </a:solidFill>
                <a:latin typeface="DM Mono" pitchFamily="49" charset="0"/>
                <a:ea typeface="DM Mono" pitchFamily="49" charset="-122"/>
                <a:cs typeface="DM Mono" pitchFamily="49" charset="-120"/>
              </a:rPr>
              <a:t>LATER</a:t>
            </a:r>
            <a:endParaRPr lang="en-US" sz="1400" dirty="0"/>
          </a:p>
        </p:txBody>
      </p:sp>
      <p:sp>
        <p:nvSpPr>
          <p:cNvPr id="20" name="Text 17"/>
          <p:cNvSpPr/>
          <p:nvPr/>
        </p:nvSpPr>
        <p:spPr>
          <a:xfrm>
            <a:off x="4605834" y="5264150"/>
            <a:ext cx="3069641" cy="80645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Quantum computers mature. Shor's algorithm breaks RSA and elliptic curves</a:t>
            </a:r>
            <a:endParaRPr lang="en-US" sz="1600" dirty="0"/>
          </a:p>
        </p:txBody>
      </p:sp>
      <p:pic>
        <p:nvPicPr>
          <p:cNvPr id="21" name="Image 1" descr="arrow-right">    </p:cNvPr>
          <p:cNvPicPr>
            <a:picLocks noChangeAspect="1"/>
          </p:cNvPicPr>
          <p:nvPr/>
        </p:nvPicPr>
        <p:blipFill>
          <a:blip r:embed="rId2"/>
          <a:srcRect l="0" r="0" t="0" b="0"/>
          <a:stretch/>
        </p:blipFill>
        <p:spPr>
          <a:xfrm>
            <a:off x="7763867" y="5276850"/>
            <a:ext cx="457200" cy="254000"/>
          </a:xfrm>
          <a:prstGeom prst="rect">
            <a:avLst/>
          </a:prstGeom>
        </p:spPr>
      </p:pic>
      <p:sp>
        <p:nvSpPr>
          <p:cNvPr id="22" name="Shape 18"/>
          <p:cNvSpPr/>
          <p:nvPr/>
        </p:nvSpPr>
        <p:spPr>
          <a:xfrm>
            <a:off x="8398867" y="4905375"/>
            <a:ext cx="2980234" cy="0"/>
          </a:xfrm>
          <a:prstGeom prst="line">
            <a:avLst/>
          </a:prstGeom>
          <a:noFill/>
          <a:ln w="25400">
            <a:solidFill>
              <a:srgbClr val="4A90B8"/>
            </a:solidFill>
            <a:prstDash val="solid"/>
          </a:ln>
        </p:spPr>
      </p:sp>
      <p:sp>
        <p:nvSpPr>
          <p:cNvPr id="23" name="Text 19"/>
          <p:cNvSpPr/>
          <p:nvPr/>
        </p:nvSpPr>
        <p:spPr>
          <a:xfrm>
            <a:off x="8398867" y="5070475"/>
            <a:ext cx="3069641"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A90B8"/>
                </a:solidFill>
                <a:latin typeface="DM Mono" pitchFamily="49" charset="0"/>
                <a:ea typeface="DM Mono" pitchFamily="49" charset="-122"/>
                <a:cs typeface="DM Mono" pitchFamily="49" charset="-120"/>
              </a:rPr>
              <a:t>THEN</a:t>
            </a:r>
            <a:endParaRPr lang="en-US" sz="1400" dirty="0"/>
          </a:p>
        </p:txBody>
      </p:sp>
      <p:sp>
        <p:nvSpPr>
          <p:cNvPr id="24" name="Text 20"/>
          <p:cNvSpPr/>
          <p:nvPr/>
        </p:nvSpPr>
        <p:spPr>
          <a:xfrm>
            <a:off x="8398867" y="5394325"/>
            <a:ext cx="3069641" cy="54610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Everything that was stored becomes readable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A1F2E"/>
              </a:gs>
              <a:gs pos="62000">
                <a:srgbClr val="1A1F2E"/>
              </a:gs>
              <a:gs pos="62000">
                <a:srgbClr val="5BBFB5"/>
              </a:gs>
              <a:gs pos="65500">
                <a:srgbClr val="4A90B8"/>
              </a:gs>
              <a:gs pos="65500">
                <a:srgbClr val="F2F6FA"/>
              </a:gs>
              <a:gs pos="100000">
                <a:srgbClr val="F2F6FA"/>
              </a:gs>
            </a:gsLst>
            <a:lin ang="600000" scaled="0"/>
          </a:gradFill>
          <a:ln/>
        </p:spPr>
      </p:sp>
      <p:sp>
        <p:nvSpPr>
          <p:cNvPr id="3" name="Shape 1"/>
          <p:cNvSpPr/>
          <p:nvPr/>
        </p:nvSpPr>
        <p:spPr>
          <a:xfrm>
            <a:off x="11684000" y="292100"/>
            <a:ext cx="228600" cy="0"/>
          </a:xfrm>
          <a:prstGeom prst="line">
            <a:avLst/>
          </a:prstGeom>
          <a:noFill/>
          <a:ln w="25400">
            <a:solidFill>
              <a:srgbClr val="4A90B8"/>
            </a:solidFill>
            <a:prstDash val="solid"/>
          </a:ln>
        </p:spPr>
      </p:sp>
      <p:sp>
        <p:nvSpPr>
          <p:cNvPr id="4" name="Shape 2"/>
          <p:cNvSpPr/>
          <p:nvPr/>
        </p:nvSpPr>
        <p:spPr>
          <a:xfrm>
            <a:off x="11899900" y="279400"/>
            <a:ext cx="0" cy="228600"/>
          </a:xfrm>
          <a:prstGeom prst="line">
            <a:avLst/>
          </a:prstGeom>
          <a:noFill/>
          <a:ln w="25400">
            <a:solidFill>
              <a:srgbClr val="4A90B8"/>
            </a:solidFill>
            <a:prstDash val="solid"/>
          </a:ln>
        </p:spPr>
      </p:sp>
      <p:sp>
        <p:nvSpPr>
          <p:cNvPr id="5" name="Text 3"/>
          <p:cNvSpPr/>
          <p:nvPr/>
        </p:nvSpPr>
        <p:spPr>
          <a:xfrm>
            <a:off x="8518525" y="1914525"/>
            <a:ext cx="2851150" cy="450850"/>
          </a:xfrm>
          <a:prstGeom prst="roundRect">
            <a:avLst>
              <a:gd name="adj" fmla="val 50000"/>
            </a:avLst>
          </a:prstGeom>
          <a:noFill/>
          <a:ln w="19050">
            <a:solidFill>
              <a:srgbClr val="1A1F2E"/>
            </a:solidFill>
            <a:prstDash val="solid"/>
          </a:ln>
        </p:spPr>
        <p:txBody>
          <a:bodyPr wrap="square" lIns="121300" tIns="45100" rIns="47005" bIns="19700" rtlCol="0" anchor="t">
            <a:normAutofit/>
          </a:bodyPr>
          <a:lstStyle/>
          <a:p>
            <a:pPr algn="l" indent="0" marL="0">
              <a:lnSpc>
                <a:spcPts val="1820"/>
              </a:lnSpc>
              <a:buNone/>
            </a:pPr>
            <a:r>
              <a:rPr lang="en-US" sz="1300" spc="100" kern="0" dirty="0">
                <a:solidFill>
                  <a:srgbClr val="1A1F2E"/>
                </a:solidFill>
                <a:latin typeface="DM Mono" pitchFamily="49" charset="0"/>
                <a:ea typeface="DM Mono" pitchFamily="49" charset="-122"/>
                <a:cs typeface="DM Mono" pitchFamily="49" charset="-120"/>
              </a:rPr>
              <a:t>IN THE CODE?</a:t>
            </a:r>
            <a:endParaRPr lang="en-US" sz="1300" dirty="0"/>
          </a:p>
        </p:txBody>
      </p:sp>
      <p:sp>
        <p:nvSpPr>
          <p:cNvPr id="6" name="Text 4"/>
          <p:cNvSpPr/>
          <p:nvPr/>
        </p:nvSpPr>
        <p:spPr>
          <a:xfrm>
            <a:off x="8518525" y="2562225"/>
            <a:ext cx="2851150" cy="450850"/>
          </a:xfrm>
          <a:prstGeom prst="roundRect">
            <a:avLst>
              <a:gd name="adj" fmla="val 50000"/>
            </a:avLst>
          </a:prstGeom>
          <a:noFill/>
          <a:ln w="19050">
            <a:solidFill>
              <a:srgbClr val="1A1F2E"/>
            </a:solidFill>
            <a:prstDash val="solid"/>
          </a:ln>
        </p:spPr>
        <p:txBody>
          <a:bodyPr wrap="square" lIns="121300" tIns="45100" rIns="47005" bIns="19700" rtlCol="0" anchor="t">
            <a:normAutofit/>
          </a:bodyPr>
          <a:lstStyle/>
          <a:p>
            <a:pPr algn="l" indent="0" marL="0">
              <a:lnSpc>
                <a:spcPts val="1820"/>
              </a:lnSpc>
              <a:buNone/>
            </a:pPr>
            <a:r>
              <a:rPr lang="en-US" sz="1300" spc="100" kern="0" dirty="0">
                <a:solidFill>
                  <a:srgbClr val="1A1F2E"/>
                </a:solidFill>
                <a:latin typeface="DM Mono" pitchFamily="49" charset="0"/>
                <a:ea typeface="DM Mono" pitchFamily="49" charset="-122"/>
                <a:cs typeface="DM Mono" pitchFamily="49" charset="-120"/>
              </a:rPr>
              <a:t>IN THE CLOUD KEYS?</a:t>
            </a:r>
            <a:endParaRPr lang="en-US" sz="1300" dirty="0"/>
          </a:p>
        </p:txBody>
      </p:sp>
      <p:sp>
        <p:nvSpPr>
          <p:cNvPr id="7" name="Shape 5"/>
          <p:cNvSpPr/>
          <p:nvPr/>
        </p:nvSpPr>
        <p:spPr>
          <a:xfrm>
            <a:off x="8518525" y="3209925"/>
            <a:ext cx="2851150" cy="679450"/>
          </a:xfrm>
          <a:prstGeom prst="roundRect">
            <a:avLst>
              <a:gd name="adj" fmla="val 50000"/>
            </a:avLst>
          </a:prstGeom>
          <a:noFill/>
          <a:ln w="19050">
            <a:solidFill>
              <a:srgbClr val="1A1F2E"/>
            </a:solidFill>
            <a:prstDash val="solid"/>
          </a:ln>
        </p:spPr>
      </p:sp>
      <p:sp>
        <p:nvSpPr>
          <p:cNvPr id="8" name="Text 6"/>
          <p:cNvSpPr/>
          <p:nvPr/>
        </p:nvSpPr>
        <p:spPr>
          <a:xfrm>
            <a:off x="8705850" y="3321050"/>
            <a:ext cx="2550795" cy="48260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1A1F2E"/>
                </a:solidFill>
                <a:latin typeface="DM Mono" pitchFamily="49" charset="0"/>
                <a:ea typeface="DM Mono" pitchFamily="49" charset="-122"/>
                <a:cs typeface="DM Mono" pitchFamily="49" charset="-120"/>
              </a:rPr>
              <a:t>IN THE NETWORK TRAFFIC?</a:t>
            </a:r>
            <a:endParaRPr lang="en-US" sz="1300" dirty="0"/>
          </a:p>
        </p:txBody>
      </p:sp>
      <p:sp>
        <p:nvSpPr>
          <p:cNvPr id="9" name="Text 7"/>
          <p:cNvSpPr/>
          <p:nvPr/>
        </p:nvSpPr>
        <p:spPr>
          <a:xfrm>
            <a:off x="812800" y="812800"/>
            <a:ext cx="6540500" cy="27305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5BBFB5"/>
                </a:solidFill>
                <a:latin typeface="DM Mono" pitchFamily="49" charset="0"/>
                <a:ea typeface="DM Mono" pitchFamily="49" charset="-122"/>
                <a:cs typeface="DM Mono" pitchFamily="49" charset="-120"/>
              </a:rPr>
              <a:t>THE QUESTION NOBODY CAN ANSWER</a:t>
            </a:r>
            <a:endParaRPr lang="en-US" sz="1400" dirty="0"/>
          </a:p>
        </p:txBody>
      </p:sp>
      <p:sp>
        <p:nvSpPr>
          <p:cNvPr id="10" name="Text 8"/>
          <p:cNvSpPr/>
          <p:nvPr>
            <p:ph type="title"/>
          </p:nvPr>
        </p:nvSpPr>
        <p:spPr>
          <a:xfrm>
            <a:off x="812800" y="2003425"/>
            <a:ext cx="6540500" cy="24257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0F4F8"/>
                </a:solidFill>
                <a:latin typeface="Familjen Grotesk" pitchFamily="34" charset="0"/>
                <a:ea typeface="Familjen Grotesk" pitchFamily="34" charset="-122"/>
                <a:cs typeface="Familjen Grotesk" pitchFamily="34" charset="-120"/>
              </a:rPr>
              <a:t>Where is our vulnerable cryptography?</a:t>
            </a:r>
            <a:endParaRPr lang="en-US" sz="6000" dirty="0"/>
          </a:p>
        </p:txBody>
      </p:sp>
      <p:sp>
        <p:nvSpPr>
          <p:cNvPr id="11" name="Text 9"/>
          <p:cNvSpPr/>
          <p:nvPr/>
        </p:nvSpPr>
        <p:spPr>
          <a:xfrm>
            <a:off x="812800" y="5346700"/>
            <a:ext cx="6278880" cy="723900"/>
          </a:xfrm>
          <a:prstGeom prst="rect">
            <a:avLst/>
          </a:prstGeom>
          <a:noFill/>
          <a:ln/>
        </p:spPr>
        <p:txBody>
          <a:bodyPr wrap="square" lIns="0" tIns="0" rIns="0" bIns="0" rtlCol="0" anchor="t">
            <a:normAutofit/>
          </a:bodyPr>
          <a:lstStyle/>
          <a:p>
            <a:pPr algn="l" indent="0" marL="0">
              <a:lnSpc>
                <a:spcPts val="2750"/>
              </a:lnSpc>
              <a:buNone/>
            </a:pPr>
            <a:r>
              <a:rPr lang="en-US" sz="2200" i="1" dirty="0">
                <a:solidFill>
                  <a:srgbClr val="F0F4F8"/>
                </a:solidFill>
                <a:latin typeface="Piazzolla" pitchFamily="18" charset="0"/>
                <a:ea typeface="Piazzolla" pitchFamily="18" charset="-122"/>
                <a:cs typeface="Piazzolla" pitchFamily="18" charset="-120"/>
              </a:rPr>
              <a:t>Nobody has that list. We built QuantumTrace to produce it in seconds.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type="title"/>
          </p:nvPr>
        </p:nvSpPr>
        <p:spPr>
          <a:xfrm>
            <a:off x="812800" y="81280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0F4F8"/>
                </a:solidFill>
                <a:latin typeface="Familjen Grotesk" pitchFamily="34" charset="0"/>
                <a:ea typeface="Familjen Grotesk" pitchFamily="34" charset="-122"/>
                <a:cs typeface="Familjen Grotesk" pitchFamily="34" charset="-120"/>
              </a:rPr>
              <a:t>Three inputs, one engine, one answer</a:t>
            </a:r>
            <a:endParaRPr lang="en-US" sz="3600" dirty="0"/>
          </a:p>
        </p:txBody>
      </p:sp>
      <p:sp>
        <p:nvSpPr>
          <p:cNvPr id="3" name="Shape 1"/>
          <p:cNvSpPr/>
          <p:nvPr/>
        </p:nvSpPr>
        <p:spPr>
          <a:xfrm>
            <a:off x="819150" y="2289175"/>
            <a:ext cx="2781300" cy="596900"/>
          </a:xfrm>
          <a:prstGeom prst="roundRect">
            <a:avLst>
              <a:gd name="adj" fmla="val 11702"/>
            </a:avLst>
          </a:prstGeom>
          <a:noFill/>
          <a:ln w="12700">
            <a:solidFill>
              <a:srgbClr val="4A90B8"/>
            </a:solidFill>
            <a:prstDash val="solid"/>
          </a:ln>
        </p:spPr>
      </p:sp>
      <p:sp>
        <p:nvSpPr>
          <p:cNvPr id="4" name="Text 2"/>
          <p:cNvSpPr/>
          <p:nvPr/>
        </p:nvSpPr>
        <p:spPr>
          <a:xfrm>
            <a:off x="1003300" y="24479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Network captures</a:t>
            </a:r>
            <a:endParaRPr lang="en-US" sz="1600" dirty="0"/>
          </a:p>
        </p:txBody>
      </p:sp>
      <p:sp>
        <p:nvSpPr>
          <p:cNvPr id="5" name="Shape 3"/>
          <p:cNvSpPr/>
          <p:nvPr/>
        </p:nvSpPr>
        <p:spPr>
          <a:xfrm>
            <a:off x="819150" y="3025775"/>
            <a:ext cx="2781300" cy="596900"/>
          </a:xfrm>
          <a:prstGeom prst="roundRect">
            <a:avLst>
              <a:gd name="adj" fmla="val 11702"/>
            </a:avLst>
          </a:prstGeom>
          <a:noFill/>
          <a:ln w="12700">
            <a:solidFill>
              <a:srgbClr val="4A90B8"/>
            </a:solidFill>
            <a:prstDash val="solid"/>
          </a:ln>
        </p:spPr>
      </p:sp>
      <p:sp>
        <p:nvSpPr>
          <p:cNvPr id="6" name="Text 4"/>
          <p:cNvSpPr/>
          <p:nvPr/>
        </p:nvSpPr>
        <p:spPr>
          <a:xfrm>
            <a:off x="1003300" y="31845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Source code</a:t>
            </a:r>
            <a:endParaRPr lang="en-US" sz="1600" dirty="0"/>
          </a:p>
        </p:txBody>
      </p:sp>
      <p:sp>
        <p:nvSpPr>
          <p:cNvPr id="7" name="Shape 5"/>
          <p:cNvSpPr/>
          <p:nvPr/>
        </p:nvSpPr>
        <p:spPr>
          <a:xfrm>
            <a:off x="819150" y="3762375"/>
            <a:ext cx="2781300" cy="596900"/>
          </a:xfrm>
          <a:prstGeom prst="roundRect">
            <a:avLst>
              <a:gd name="adj" fmla="val 11702"/>
            </a:avLst>
          </a:prstGeom>
          <a:noFill/>
          <a:ln w="12700">
            <a:solidFill>
              <a:srgbClr val="4A90B8"/>
            </a:solidFill>
            <a:prstDash val="solid"/>
          </a:ln>
        </p:spPr>
      </p:sp>
      <p:sp>
        <p:nvSpPr>
          <p:cNvPr id="8" name="Text 6"/>
          <p:cNvSpPr/>
          <p:nvPr/>
        </p:nvSpPr>
        <p:spPr>
          <a:xfrm>
            <a:off x="1003300" y="39211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Cloud configuration</a:t>
            </a:r>
            <a:endParaRPr lang="en-US" sz="1600" dirty="0"/>
          </a:p>
        </p:txBody>
      </p:sp>
      <p:pic>
        <p:nvPicPr>
          <p:cNvPr id="9" name="Image 0" descr="arrow-right">    </p:cNvPr>
          <p:cNvPicPr>
            <a:picLocks noChangeAspect="1"/>
          </p:cNvPicPr>
          <p:nvPr/>
        </p:nvPicPr>
        <p:blipFill>
          <a:blip r:embed="rId1"/>
          <a:srcRect l="0" r="0" t="0" b="0"/>
          <a:stretch/>
        </p:blipFill>
        <p:spPr>
          <a:xfrm>
            <a:off x="3810000" y="3197225"/>
            <a:ext cx="457200" cy="254000"/>
          </a:xfrm>
          <a:prstGeom prst="rect">
            <a:avLst/>
          </a:prstGeom>
        </p:spPr>
      </p:pic>
      <p:sp>
        <p:nvSpPr>
          <p:cNvPr id="10" name="Shape 7"/>
          <p:cNvSpPr/>
          <p:nvPr/>
        </p:nvSpPr>
        <p:spPr>
          <a:xfrm>
            <a:off x="4483100" y="2565400"/>
            <a:ext cx="3225800" cy="1517650"/>
          </a:xfrm>
          <a:prstGeom prst="roundRect">
            <a:avLst>
              <a:gd name="adj" fmla="val 5858"/>
            </a:avLst>
          </a:prstGeom>
          <a:noFill/>
          <a:ln w="25400">
            <a:solidFill>
              <a:srgbClr val="5BBFB5"/>
            </a:solidFill>
            <a:prstDash val="solid"/>
          </a:ln>
        </p:spPr>
      </p:sp>
      <p:sp>
        <p:nvSpPr>
          <p:cNvPr id="11" name="Text 8"/>
          <p:cNvSpPr/>
          <p:nvPr/>
        </p:nvSpPr>
        <p:spPr>
          <a:xfrm>
            <a:off x="4699000" y="2832100"/>
            <a:ext cx="2877820"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5BBFB5"/>
                </a:solidFill>
                <a:latin typeface="Familjen Grotesk" pitchFamily="34" charset="0"/>
                <a:ea typeface="Familjen Grotesk" pitchFamily="34" charset="-122"/>
                <a:cs typeface="Familjen Grotesk" pitchFamily="34" charset="-120"/>
              </a:rPr>
              <a:t>One engine</a:t>
            </a:r>
            <a:endParaRPr lang="en-US" sz="2800" dirty="0"/>
          </a:p>
        </p:txBody>
      </p:sp>
      <p:sp>
        <p:nvSpPr>
          <p:cNvPr id="12" name="Text 9"/>
          <p:cNvSpPr/>
          <p:nvPr/>
        </p:nvSpPr>
        <p:spPr>
          <a:xfrm>
            <a:off x="4699000" y="3295650"/>
            <a:ext cx="2877820" cy="54610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One classification table for every input</a:t>
            </a:r>
            <a:endParaRPr lang="en-US" sz="1600" dirty="0"/>
          </a:p>
        </p:txBody>
      </p:sp>
      <p:pic>
        <p:nvPicPr>
          <p:cNvPr id="13" name="Image 1" descr="arrow-right">    </p:cNvPr>
          <p:cNvPicPr>
            <a:picLocks noChangeAspect="1"/>
          </p:cNvPicPr>
          <p:nvPr/>
        </p:nvPicPr>
        <p:blipFill>
          <a:blip r:embed="rId2"/>
          <a:srcRect l="0" r="0" t="0" b="0"/>
          <a:stretch/>
        </p:blipFill>
        <p:spPr>
          <a:xfrm>
            <a:off x="7924800" y="3197225"/>
            <a:ext cx="457200" cy="254000"/>
          </a:xfrm>
          <a:prstGeom prst="rect">
            <a:avLst/>
          </a:prstGeom>
        </p:spPr>
      </p:pic>
      <p:sp>
        <p:nvSpPr>
          <p:cNvPr id="14" name="Shape 10"/>
          <p:cNvSpPr/>
          <p:nvPr/>
        </p:nvSpPr>
        <p:spPr>
          <a:xfrm>
            <a:off x="8591550" y="2289175"/>
            <a:ext cx="2781300" cy="596900"/>
          </a:xfrm>
          <a:prstGeom prst="roundRect">
            <a:avLst>
              <a:gd name="adj" fmla="val 11702"/>
            </a:avLst>
          </a:prstGeom>
          <a:noFill/>
          <a:ln w="12700">
            <a:solidFill>
              <a:srgbClr val="4A90B8"/>
            </a:solidFill>
            <a:prstDash val="solid"/>
          </a:ln>
        </p:spPr>
      </p:sp>
      <p:sp>
        <p:nvSpPr>
          <p:cNvPr id="15" name="Text 11"/>
          <p:cNvSpPr/>
          <p:nvPr/>
        </p:nvSpPr>
        <p:spPr>
          <a:xfrm>
            <a:off x="8775700" y="24479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Risk score</a:t>
            </a:r>
            <a:endParaRPr lang="en-US" sz="1600" dirty="0"/>
          </a:p>
        </p:txBody>
      </p:sp>
      <p:sp>
        <p:nvSpPr>
          <p:cNvPr id="16" name="Shape 12"/>
          <p:cNvSpPr/>
          <p:nvPr/>
        </p:nvSpPr>
        <p:spPr>
          <a:xfrm>
            <a:off x="8591550" y="3025775"/>
            <a:ext cx="2781300" cy="596900"/>
          </a:xfrm>
          <a:prstGeom prst="roundRect">
            <a:avLst>
              <a:gd name="adj" fmla="val 11702"/>
            </a:avLst>
          </a:prstGeom>
          <a:noFill/>
          <a:ln w="12700">
            <a:solidFill>
              <a:srgbClr val="4A90B8"/>
            </a:solidFill>
            <a:prstDash val="solid"/>
          </a:ln>
        </p:spPr>
      </p:sp>
      <p:sp>
        <p:nvSpPr>
          <p:cNvPr id="17" name="Text 13"/>
          <p:cNvSpPr/>
          <p:nvPr/>
        </p:nvSpPr>
        <p:spPr>
          <a:xfrm>
            <a:off x="8775700" y="31845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CycloneDX CBOM</a:t>
            </a:r>
            <a:endParaRPr lang="en-US" sz="1600" dirty="0"/>
          </a:p>
        </p:txBody>
      </p:sp>
      <p:sp>
        <p:nvSpPr>
          <p:cNvPr id="18" name="Shape 14"/>
          <p:cNvSpPr/>
          <p:nvPr/>
        </p:nvSpPr>
        <p:spPr>
          <a:xfrm>
            <a:off x="8591550" y="3762375"/>
            <a:ext cx="2781300" cy="596900"/>
          </a:xfrm>
          <a:prstGeom prst="roundRect">
            <a:avLst>
              <a:gd name="adj" fmla="val 11702"/>
            </a:avLst>
          </a:prstGeom>
          <a:noFill/>
          <a:ln w="12700">
            <a:solidFill>
              <a:srgbClr val="4A90B8"/>
            </a:solidFill>
            <a:prstDash val="solid"/>
          </a:ln>
        </p:spPr>
      </p:sp>
      <p:sp>
        <p:nvSpPr>
          <p:cNvPr id="19" name="Text 15"/>
          <p:cNvSpPr/>
          <p:nvPr/>
        </p:nvSpPr>
        <p:spPr>
          <a:xfrm>
            <a:off x="8775700" y="3921125"/>
            <a:ext cx="2485390" cy="30480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F4F8"/>
                </a:solidFill>
                <a:latin typeface="Familjen Grotesk" pitchFamily="34" charset="0"/>
                <a:ea typeface="Familjen Grotesk" pitchFamily="34" charset="-122"/>
                <a:cs typeface="Familjen Grotesk" pitchFamily="34" charset="-120"/>
              </a:rPr>
              <a:t>Migration roadmap</a:t>
            </a:r>
            <a:endParaRPr lang="en-US" sz="1600" dirty="0"/>
          </a:p>
        </p:txBody>
      </p:sp>
      <p:sp>
        <p:nvSpPr>
          <p:cNvPr id="20" name="Shape 16"/>
          <p:cNvSpPr/>
          <p:nvPr/>
        </p:nvSpPr>
        <p:spPr>
          <a:xfrm>
            <a:off x="812800" y="5346700"/>
            <a:ext cx="3386634" cy="0"/>
          </a:xfrm>
          <a:prstGeom prst="line">
            <a:avLst/>
          </a:prstGeom>
          <a:noFill/>
          <a:ln w="25400">
            <a:solidFill>
              <a:srgbClr val="EE6368"/>
            </a:solidFill>
            <a:prstDash val="solid"/>
          </a:ln>
        </p:spPr>
      </p:sp>
      <p:sp>
        <p:nvSpPr>
          <p:cNvPr id="21" name="Text 17"/>
          <p:cNvSpPr/>
          <p:nvPr/>
        </p:nvSpPr>
        <p:spPr>
          <a:xfrm>
            <a:off x="812800" y="5486400"/>
            <a:ext cx="3488233"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E6368"/>
                </a:solidFill>
                <a:latin typeface="DM Mono" pitchFamily="49" charset="0"/>
                <a:ea typeface="DM Mono" pitchFamily="49" charset="-122"/>
                <a:cs typeface="DM Mono" pitchFamily="49" charset="-120"/>
              </a:rPr>
              <a:t>CRITICAL</a:t>
            </a:r>
            <a:endParaRPr lang="en-US" sz="1400" dirty="0"/>
          </a:p>
        </p:txBody>
      </p:sp>
      <p:sp>
        <p:nvSpPr>
          <p:cNvPr id="22" name="Text 18"/>
          <p:cNvSpPr/>
          <p:nvPr/>
        </p:nvSpPr>
        <p:spPr>
          <a:xfrm>
            <a:off x="812800" y="5784850"/>
            <a:ext cx="3488233" cy="28575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Shor breaks it: RSA, elliptic curves</a:t>
            </a:r>
            <a:endParaRPr lang="en-US" sz="1600" dirty="0"/>
          </a:p>
        </p:txBody>
      </p:sp>
      <p:sp>
        <p:nvSpPr>
          <p:cNvPr id="23" name="Shape 19"/>
          <p:cNvSpPr/>
          <p:nvPr/>
        </p:nvSpPr>
        <p:spPr>
          <a:xfrm>
            <a:off x="4402634" y="5346700"/>
            <a:ext cx="3386634" cy="0"/>
          </a:xfrm>
          <a:prstGeom prst="line">
            <a:avLst/>
          </a:prstGeom>
          <a:noFill/>
          <a:ln w="25400">
            <a:solidFill>
              <a:srgbClr val="F28C28"/>
            </a:solidFill>
            <a:prstDash val="solid"/>
          </a:ln>
        </p:spPr>
      </p:sp>
      <p:sp>
        <p:nvSpPr>
          <p:cNvPr id="24" name="Text 20"/>
          <p:cNvSpPr/>
          <p:nvPr/>
        </p:nvSpPr>
        <p:spPr>
          <a:xfrm>
            <a:off x="4402634" y="5486400"/>
            <a:ext cx="3488233"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8C28"/>
                </a:solidFill>
                <a:latin typeface="DM Mono" pitchFamily="49" charset="0"/>
                <a:ea typeface="DM Mono" pitchFamily="49" charset="-122"/>
                <a:cs typeface="DM Mono" pitchFamily="49" charset="-120"/>
              </a:rPr>
              <a:t>MEDIUM</a:t>
            </a:r>
            <a:endParaRPr lang="en-US" sz="1400" dirty="0"/>
          </a:p>
        </p:txBody>
      </p:sp>
      <p:sp>
        <p:nvSpPr>
          <p:cNvPr id="25" name="Text 21"/>
          <p:cNvSpPr/>
          <p:nvPr/>
        </p:nvSpPr>
        <p:spPr>
          <a:xfrm>
            <a:off x="4402634" y="5784850"/>
            <a:ext cx="3488233" cy="28575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Grover weakens it: AES-128, SHA-1</a:t>
            </a:r>
            <a:endParaRPr lang="en-US" sz="1600" dirty="0"/>
          </a:p>
        </p:txBody>
      </p:sp>
      <p:sp>
        <p:nvSpPr>
          <p:cNvPr id="26" name="Shape 22"/>
          <p:cNvSpPr/>
          <p:nvPr/>
        </p:nvSpPr>
        <p:spPr>
          <a:xfrm>
            <a:off x="7992467" y="5346700"/>
            <a:ext cx="3386634" cy="0"/>
          </a:xfrm>
          <a:prstGeom prst="line">
            <a:avLst/>
          </a:prstGeom>
          <a:noFill/>
          <a:ln w="25400">
            <a:solidFill>
              <a:srgbClr val="4CAF82"/>
            </a:solidFill>
            <a:prstDash val="solid"/>
          </a:ln>
        </p:spPr>
      </p:sp>
      <p:sp>
        <p:nvSpPr>
          <p:cNvPr id="27" name="Text 23"/>
          <p:cNvSpPr/>
          <p:nvPr/>
        </p:nvSpPr>
        <p:spPr>
          <a:xfrm>
            <a:off x="7992467" y="5486400"/>
            <a:ext cx="3488233" cy="27305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CAF82"/>
                </a:solidFill>
                <a:latin typeface="DM Mono" pitchFamily="49" charset="0"/>
                <a:ea typeface="DM Mono" pitchFamily="49" charset="-122"/>
                <a:cs typeface="DM Mono" pitchFamily="49" charset="-120"/>
              </a:rPr>
              <a:t>SAFE</a:t>
            </a:r>
            <a:endParaRPr lang="en-US" sz="1400" dirty="0"/>
          </a:p>
        </p:txBody>
      </p:sp>
      <p:sp>
        <p:nvSpPr>
          <p:cNvPr id="28" name="Text 24"/>
          <p:cNvSpPr/>
          <p:nvPr/>
        </p:nvSpPr>
        <p:spPr>
          <a:xfrm>
            <a:off x="7992467" y="5784850"/>
            <a:ext cx="3488233" cy="28575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AES-256 or post-quantum</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6076950"/>
            <a:ext cx="489744" cy="781050"/>
          </a:xfrm>
          <a:custGeom>
            <a:avLst/>
            <a:gdLst/>
            <a:ahLst/>
            <a:cxnLst/>
            <a:rect l="l" t="t" r="r" b="b"/>
            <a:pathLst>
              <a:path w="489744" h="781050">
                <a:moveTo>
                  <a:pt x="19050" y="0"/>
                </a:moveTo>
                <a:lnTo>
                  <a:pt x="470694" y="0"/>
                </a:lnTo>
                <a:arcTo hR="19050" wR="19050" stAng="16200000" swAng="5400000"/>
                <a:lnTo>
                  <a:pt x="489744" y="781050"/>
                </a:lnTo>
                <a:lnTo>
                  <a:pt x="0" y="7810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3" name="Shape 1"/>
          <p:cNvSpPr/>
          <p:nvPr/>
        </p:nvSpPr>
        <p:spPr>
          <a:xfrm>
            <a:off x="508794" y="5613400"/>
            <a:ext cx="489744" cy="1244600"/>
          </a:xfrm>
          <a:custGeom>
            <a:avLst/>
            <a:gdLst/>
            <a:ahLst/>
            <a:cxnLst/>
            <a:rect l="l" t="t" r="r" b="b"/>
            <a:pathLst>
              <a:path w="489744" h="1244600">
                <a:moveTo>
                  <a:pt x="19050" y="0"/>
                </a:moveTo>
                <a:lnTo>
                  <a:pt x="470694" y="0"/>
                </a:lnTo>
                <a:arcTo hR="19050" wR="19050" stAng="16200000" swAng="5400000"/>
                <a:lnTo>
                  <a:pt x="489744" y="1244600"/>
                </a:lnTo>
                <a:lnTo>
                  <a:pt x="0" y="12446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4" name="Shape 2"/>
          <p:cNvSpPr/>
          <p:nvPr/>
        </p:nvSpPr>
        <p:spPr>
          <a:xfrm>
            <a:off x="1017588" y="5791200"/>
            <a:ext cx="489744" cy="1066800"/>
          </a:xfrm>
          <a:custGeom>
            <a:avLst/>
            <a:gdLst/>
            <a:ahLst/>
            <a:cxnLst/>
            <a:rect l="l" t="t" r="r" b="b"/>
            <a:pathLst>
              <a:path w="489744" h="1066800">
                <a:moveTo>
                  <a:pt x="19050" y="0"/>
                </a:moveTo>
                <a:lnTo>
                  <a:pt x="470694" y="0"/>
                </a:lnTo>
                <a:arcTo hR="19050" wR="19050" stAng="16200000" swAng="5400000"/>
                <a:lnTo>
                  <a:pt x="489744" y="1066800"/>
                </a:lnTo>
                <a:lnTo>
                  <a:pt x="0" y="10668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5" name="Shape 3"/>
          <p:cNvSpPr/>
          <p:nvPr/>
        </p:nvSpPr>
        <p:spPr>
          <a:xfrm>
            <a:off x="1526381" y="5257800"/>
            <a:ext cx="489744" cy="1600200"/>
          </a:xfrm>
          <a:custGeom>
            <a:avLst/>
            <a:gdLst/>
            <a:ahLst/>
            <a:cxnLst/>
            <a:rect l="l" t="t" r="r" b="b"/>
            <a:pathLst>
              <a:path w="489744" h="1600200">
                <a:moveTo>
                  <a:pt x="19050" y="0"/>
                </a:moveTo>
                <a:lnTo>
                  <a:pt x="470694" y="0"/>
                </a:lnTo>
                <a:arcTo hR="19050" wR="19050" stAng="16200000" swAng="5400000"/>
                <a:lnTo>
                  <a:pt x="489744" y="1600200"/>
                </a:lnTo>
                <a:lnTo>
                  <a:pt x="0" y="16002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6" name="Shape 4"/>
          <p:cNvSpPr/>
          <p:nvPr/>
        </p:nvSpPr>
        <p:spPr>
          <a:xfrm>
            <a:off x="2035175" y="4794250"/>
            <a:ext cx="489744" cy="2063750"/>
          </a:xfrm>
          <a:custGeom>
            <a:avLst/>
            <a:gdLst/>
            <a:ahLst/>
            <a:cxnLst/>
            <a:rect l="l" t="t" r="r" b="b"/>
            <a:pathLst>
              <a:path w="489744" h="2063750">
                <a:moveTo>
                  <a:pt x="19050" y="0"/>
                </a:moveTo>
                <a:lnTo>
                  <a:pt x="470694" y="0"/>
                </a:lnTo>
                <a:arcTo hR="19050" wR="19050" stAng="16200000" swAng="5400000"/>
                <a:lnTo>
                  <a:pt x="489744" y="2063750"/>
                </a:lnTo>
                <a:lnTo>
                  <a:pt x="0" y="20637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7" name="Shape 5"/>
          <p:cNvSpPr/>
          <p:nvPr/>
        </p:nvSpPr>
        <p:spPr>
          <a:xfrm>
            <a:off x="2543969" y="5010150"/>
            <a:ext cx="489744" cy="1847850"/>
          </a:xfrm>
          <a:custGeom>
            <a:avLst/>
            <a:gdLst/>
            <a:ahLst/>
            <a:cxnLst/>
            <a:rect l="l" t="t" r="r" b="b"/>
            <a:pathLst>
              <a:path w="489744" h="1847850">
                <a:moveTo>
                  <a:pt x="19050" y="0"/>
                </a:moveTo>
                <a:lnTo>
                  <a:pt x="470694" y="0"/>
                </a:lnTo>
                <a:arcTo hR="19050" wR="19050" stAng="16200000" swAng="5400000"/>
                <a:lnTo>
                  <a:pt x="489744" y="1847850"/>
                </a:lnTo>
                <a:lnTo>
                  <a:pt x="0" y="18478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8" name="Shape 6"/>
          <p:cNvSpPr/>
          <p:nvPr/>
        </p:nvSpPr>
        <p:spPr>
          <a:xfrm>
            <a:off x="3052763" y="4508500"/>
            <a:ext cx="489744" cy="2349500"/>
          </a:xfrm>
          <a:custGeom>
            <a:avLst/>
            <a:gdLst/>
            <a:ahLst/>
            <a:cxnLst/>
            <a:rect l="l" t="t" r="r" b="b"/>
            <a:pathLst>
              <a:path w="489744" h="2349500">
                <a:moveTo>
                  <a:pt x="19050" y="0"/>
                </a:moveTo>
                <a:lnTo>
                  <a:pt x="470694" y="0"/>
                </a:lnTo>
                <a:arcTo hR="19050" wR="19050" stAng="16200000" swAng="5400000"/>
                <a:lnTo>
                  <a:pt x="489744" y="2349500"/>
                </a:lnTo>
                <a:lnTo>
                  <a:pt x="0" y="23495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9" name="Shape 7"/>
          <p:cNvSpPr/>
          <p:nvPr/>
        </p:nvSpPr>
        <p:spPr>
          <a:xfrm>
            <a:off x="3561556" y="4724400"/>
            <a:ext cx="489744" cy="2133600"/>
          </a:xfrm>
          <a:custGeom>
            <a:avLst/>
            <a:gdLst/>
            <a:ahLst/>
            <a:cxnLst/>
            <a:rect l="l" t="t" r="r" b="b"/>
            <a:pathLst>
              <a:path w="489744" h="2133600">
                <a:moveTo>
                  <a:pt x="19050" y="0"/>
                </a:moveTo>
                <a:lnTo>
                  <a:pt x="470694" y="0"/>
                </a:lnTo>
                <a:arcTo hR="19050" wR="19050" stAng="16200000" swAng="5400000"/>
                <a:lnTo>
                  <a:pt x="489744" y="2133600"/>
                </a:lnTo>
                <a:lnTo>
                  <a:pt x="0" y="21336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0" name="Shape 8"/>
          <p:cNvSpPr/>
          <p:nvPr/>
        </p:nvSpPr>
        <p:spPr>
          <a:xfrm>
            <a:off x="4070350" y="4229100"/>
            <a:ext cx="489744" cy="2628900"/>
          </a:xfrm>
          <a:custGeom>
            <a:avLst/>
            <a:gdLst/>
            <a:ahLst/>
            <a:cxnLst/>
            <a:rect l="l" t="t" r="r" b="b"/>
            <a:pathLst>
              <a:path w="489744" h="2628900">
                <a:moveTo>
                  <a:pt x="19050" y="0"/>
                </a:moveTo>
                <a:lnTo>
                  <a:pt x="470694" y="0"/>
                </a:lnTo>
                <a:arcTo hR="19050" wR="19050" stAng="16200000" swAng="5400000"/>
                <a:lnTo>
                  <a:pt x="489744" y="2628900"/>
                </a:lnTo>
                <a:lnTo>
                  <a:pt x="0" y="26289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1" name="Shape 9"/>
          <p:cNvSpPr/>
          <p:nvPr/>
        </p:nvSpPr>
        <p:spPr>
          <a:xfrm>
            <a:off x="4579144" y="4368800"/>
            <a:ext cx="489744" cy="2489200"/>
          </a:xfrm>
          <a:custGeom>
            <a:avLst/>
            <a:gdLst/>
            <a:ahLst/>
            <a:cxnLst/>
            <a:rect l="l" t="t" r="r" b="b"/>
            <a:pathLst>
              <a:path w="489744" h="2489200">
                <a:moveTo>
                  <a:pt x="19050" y="0"/>
                </a:moveTo>
                <a:lnTo>
                  <a:pt x="470694" y="0"/>
                </a:lnTo>
                <a:arcTo hR="19050" wR="19050" stAng="16200000" swAng="5400000"/>
                <a:lnTo>
                  <a:pt x="489744" y="2489200"/>
                </a:lnTo>
                <a:lnTo>
                  <a:pt x="0" y="24892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2" name="Shape 10"/>
          <p:cNvSpPr/>
          <p:nvPr/>
        </p:nvSpPr>
        <p:spPr>
          <a:xfrm>
            <a:off x="5087938" y="3835400"/>
            <a:ext cx="489744" cy="3022600"/>
          </a:xfrm>
          <a:custGeom>
            <a:avLst/>
            <a:gdLst/>
            <a:ahLst/>
            <a:cxnLst/>
            <a:rect l="l" t="t" r="r" b="b"/>
            <a:pathLst>
              <a:path w="489744" h="3022600">
                <a:moveTo>
                  <a:pt x="19050" y="0"/>
                </a:moveTo>
                <a:lnTo>
                  <a:pt x="470694" y="0"/>
                </a:lnTo>
                <a:arcTo hR="19050" wR="19050" stAng="16200000" swAng="5400000"/>
                <a:lnTo>
                  <a:pt x="489744" y="3022600"/>
                </a:lnTo>
                <a:lnTo>
                  <a:pt x="0" y="30226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3" name="Shape 11"/>
          <p:cNvSpPr/>
          <p:nvPr/>
        </p:nvSpPr>
        <p:spPr>
          <a:xfrm>
            <a:off x="5596731" y="4083050"/>
            <a:ext cx="489744" cy="2774950"/>
          </a:xfrm>
          <a:custGeom>
            <a:avLst/>
            <a:gdLst/>
            <a:ahLst/>
            <a:cxnLst/>
            <a:rect l="l" t="t" r="r" b="b"/>
            <a:pathLst>
              <a:path w="489744" h="2774950">
                <a:moveTo>
                  <a:pt x="19050" y="0"/>
                </a:moveTo>
                <a:lnTo>
                  <a:pt x="470694" y="0"/>
                </a:lnTo>
                <a:arcTo hR="19050" wR="19050" stAng="16200000" swAng="5400000"/>
                <a:lnTo>
                  <a:pt x="489744" y="2774950"/>
                </a:lnTo>
                <a:lnTo>
                  <a:pt x="0" y="27749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4" name="Shape 12"/>
          <p:cNvSpPr/>
          <p:nvPr/>
        </p:nvSpPr>
        <p:spPr>
          <a:xfrm>
            <a:off x="6105525" y="3657600"/>
            <a:ext cx="489744" cy="3200400"/>
          </a:xfrm>
          <a:custGeom>
            <a:avLst/>
            <a:gdLst/>
            <a:ahLst/>
            <a:cxnLst/>
            <a:rect l="l" t="t" r="r" b="b"/>
            <a:pathLst>
              <a:path w="489744" h="3200400">
                <a:moveTo>
                  <a:pt x="19050" y="0"/>
                </a:moveTo>
                <a:lnTo>
                  <a:pt x="470694" y="0"/>
                </a:lnTo>
                <a:arcTo hR="19050" wR="19050" stAng="16200000" swAng="5400000"/>
                <a:lnTo>
                  <a:pt x="489744" y="3200400"/>
                </a:lnTo>
                <a:lnTo>
                  <a:pt x="0" y="32004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5" name="Shape 13"/>
          <p:cNvSpPr/>
          <p:nvPr/>
        </p:nvSpPr>
        <p:spPr>
          <a:xfrm>
            <a:off x="6614319" y="3943350"/>
            <a:ext cx="489744" cy="2914650"/>
          </a:xfrm>
          <a:custGeom>
            <a:avLst/>
            <a:gdLst/>
            <a:ahLst/>
            <a:cxnLst/>
            <a:rect l="l" t="t" r="r" b="b"/>
            <a:pathLst>
              <a:path w="489744" h="2914650">
                <a:moveTo>
                  <a:pt x="19050" y="0"/>
                </a:moveTo>
                <a:lnTo>
                  <a:pt x="470694" y="0"/>
                </a:lnTo>
                <a:arcTo hR="19050" wR="19050" stAng="16200000" swAng="5400000"/>
                <a:lnTo>
                  <a:pt x="489744" y="2914650"/>
                </a:lnTo>
                <a:lnTo>
                  <a:pt x="0" y="29146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6" name="Shape 14"/>
          <p:cNvSpPr/>
          <p:nvPr/>
        </p:nvSpPr>
        <p:spPr>
          <a:xfrm>
            <a:off x="7123113" y="4438650"/>
            <a:ext cx="489744" cy="2419350"/>
          </a:xfrm>
          <a:custGeom>
            <a:avLst/>
            <a:gdLst/>
            <a:ahLst/>
            <a:cxnLst/>
            <a:rect l="l" t="t" r="r" b="b"/>
            <a:pathLst>
              <a:path w="489744" h="2419350">
                <a:moveTo>
                  <a:pt x="19050" y="0"/>
                </a:moveTo>
                <a:lnTo>
                  <a:pt x="470694" y="0"/>
                </a:lnTo>
                <a:arcTo hR="19050" wR="19050" stAng="16200000" swAng="5400000"/>
                <a:lnTo>
                  <a:pt x="489744" y="2419350"/>
                </a:lnTo>
                <a:lnTo>
                  <a:pt x="0" y="24193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7" name="Shape 15"/>
          <p:cNvSpPr/>
          <p:nvPr/>
        </p:nvSpPr>
        <p:spPr>
          <a:xfrm>
            <a:off x="7631906" y="4229100"/>
            <a:ext cx="489744" cy="2628900"/>
          </a:xfrm>
          <a:custGeom>
            <a:avLst/>
            <a:gdLst/>
            <a:ahLst/>
            <a:cxnLst/>
            <a:rect l="l" t="t" r="r" b="b"/>
            <a:pathLst>
              <a:path w="489744" h="2628900">
                <a:moveTo>
                  <a:pt x="19050" y="0"/>
                </a:moveTo>
                <a:lnTo>
                  <a:pt x="470694" y="0"/>
                </a:lnTo>
                <a:arcTo hR="19050" wR="19050" stAng="16200000" swAng="5400000"/>
                <a:lnTo>
                  <a:pt x="489744" y="2628900"/>
                </a:lnTo>
                <a:lnTo>
                  <a:pt x="0" y="26289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8" name="Shape 16"/>
          <p:cNvSpPr/>
          <p:nvPr/>
        </p:nvSpPr>
        <p:spPr>
          <a:xfrm>
            <a:off x="8140700" y="4724400"/>
            <a:ext cx="489744" cy="2133600"/>
          </a:xfrm>
          <a:custGeom>
            <a:avLst/>
            <a:gdLst/>
            <a:ahLst/>
            <a:cxnLst/>
            <a:rect l="l" t="t" r="r" b="b"/>
            <a:pathLst>
              <a:path w="489744" h="2133600">
                <a:moveTo>
                  <a:pt x="19050" y="0"/>
                </a:moveTo>
                <a:lnTo>
                  <a:pt x="470694" y="0"/>
                </a:lnTo>
                <a:arcTo hR="19050" wR="19050" stAng="16200000" swAng="5400000"/>
                <a:lnTo>
                  <a:pt x="489744" y="2133600"/>
                </a:lnTo>
                <a:lnTo>
                  <a:pt x="0" y="21336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19" name="Shape 17"/>
          <p:cNvSpPr/>
          <p:nvPr/>
        </p:nvSpPr>
        <p:spPr>
          <a:xfrm>
            <a:off x="8649494" y="4508500"/>
            <a:ext cx="489744" cy="2349500"/>
          </a:xfrm>
          <a:custGeom>
            <a:avLst/>
            <a:gdLst/>
            <a:ahLst/>
            <a:cxnLst/>
            <a:rect l="l" t="t" r="r" b="b"/>
            <a:pathLst>
              <a:path w="489744" h="2349500">
                <a:moveTo>
                  <a:pt x="19050" y="0"/>
                </a:moveTo>
                <a:lnTo>
                  <a:pt x="470694" y="0"/>
                </a:lnTo>
                <a:arcTo hR="19050" wR="19050" stAng="16200000" swAng="5400000"/>
                <a:lnTo>
                  <a:pt x="489744" y="2349500"/>
                </a:lnTo>
                <a:lnTo>
                  <a:pt x="0" y="23495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0" name="Shape 18"/>
          <p:cNvSpPr/>
          <p:nvPr/>
        </p:nvSpPr>
        <p:spPr>
          <a:xfrm>
            <a:off x="9158288" y="5080000"/>
            <a:ext cx="489744" cy="1778000"/>
          </a:xfrm>
          <a:custGeom>
            <a:avLst/>
            <a:gdLst/>
            <a:ahLst/>
            <a:cxnLst/>
            <a:rect l="l" t="t" r="r" b="b"/>
            <a:pathLst>
              <a:path w="489744" h="1778000">
                <a:moveTo>
                  <a:pt x="19050" y="0"/>
                </a:moveTo>
                <a:lnTo>
                  <a:pt x="470694" y="0"/>
                </a:lnTo>
                <a:arcTo hR="19050" wR="19050" stAng="16200000" swAng="5400000"/>
                <a:lnTo>
                  <a:pt x="489744" y="1778000"/>
                </a:lnTo>
                <a:lnTo>
                  <a:pt x="0" y="17780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1" name="Shape 19"/>
          <p:cNvSpPr/>
          <p:nvPr/>
        </p:nvSpPr>
        <p:spPr>
          <a:xfrm>
            <a:off x="9667081" y="4902200"/>
            <a:ext cx="489744" cy="1955800"/>
          </a:xfrm>
          <a:custGeom>
            <a:avLst/>
            <a:gdLst/>
            <a:ahLst/>
            <a:cxnLst/>
            <a:rect l="l" t="t" r="r" b="b"/>
            <a:pathLst>
              <a:path w="489744" h="1955800">
                <a:moveTo>
                  <a:pt x="19050" y="0"/>
                </a:moveTo>
                <a:lnTo>
                  <a:pt x="470694" y="0"/>
                </a:lnTo>
                <a:arcTo hR="19050" wR="19050" stAng="16200000" swAng="5400000"/>
                <a:lnTo>
                  <a:pt x="489744" y="1955800"/>
                </a:lnTo>
                <a:lnTo>
                  <a:pt x="0" y="19558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2" name="Shape 20"/>
          <p:cNvSpPr/>
          <p:nvPr/>
        </p:nvSpPr>
        <p:spPr>
          <a:xfrm>
            <a:off x="10175875" y="5435600"/>
            <a:ext cx="489744" cy="1422400"/>
          </a:xfrm>
          <a:custGeom>
            <a:avLst/>
            <a:gdLst/>
            <a:ahLst/>
            <a:cxnLst/>
            <a:rect l="l" t="t" r="r" b="b"/>
            <a:pathLst>
              <a:path w="489744" h="1422400">
                <a:moveTo>
                  <a:pt x="19050" y="0"/>
                </a:moveTo>
                <a:lnTo>
                  <a:pt x="470694" y="0"/>
                </a:lnTo>
                <a:arcTo hR="19050" wR="19050" stAng="16200000" swAng="5400000"/>
                <a:lnTo>
                  <a:pt x="489744" y="1422400"/>
                </a:lnTo>
                <a:lnTo>
                  <a:pt x="0" y="14224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3" name="Shape 21"/>
          <p:cNvSpPr/>
          <p:nvPr/>
        </p:nvSpPr>
        <p:spPr>
          <a:xfrm>
            <a:off x="10684669" y="5257800"/>
            <a:ext cx="489744" cy="1600200"/>
          </a:xfrm>
          <a:custGeom>
            <a:avLst/>
            <a:gdLst/>
            <a:ahLst/>
            <a:cxnLst/>
            <a:rect l="l" t="t" r="r" b="b"/>
            <a:pathLst>
              <a:path w="489744" h="1600200">
                <a:moveTo>
                  <a:pt x="19050" y="0"/>
                </a:moveTo>
                <a:lnTo>
                  <a:pt x="470694" y="0"/>
                </a:lnTo>
                <a:arcTo hR="19050" wR="19050" stAng="16200000" swAng="5400000"/>
                <a:lnTo>
                  <a:pt x="489744" y="1600200"/>
                </a:lnTo>
                <a:lnTo>
                  <a:pt x="0" y="160020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4" name="Shape 22"/>
          <p:cNvSpPr/>
          <p:nvPr/>
        </p:nvSpPr>
        <p:spPr>
          <a:xfrm>
            <a:off x="11193463" y="5721350"/>
            <a:ext cx="489744" cy="1136650"/>
          </a:xfrm>
          <a:custGeom>
            <a:avLst/>
            <a:gdLst/>
            <a:ahLst/>
            <a:cxnLst/>
            <a:rect l="l" t="t" r="r" b="b"/>
            <a:pathLst>
              <a:path w="489744" h="1136650">
                <a:moveTo>
                  <a:pt x="19050" y="0"/>
                </a:moveTo>
                <a:lnTo>
                  <a:pt x="470694" y="0"/>
                </a:lnTo>
                <a:arcTo hR="19050" wR="19050" stAng="16200000" swAng="5400000"/>
                <a:lnTo>
                  <a:pt x="489744" y="1136650"/>
                </a:lnTo>
                <a:lnTo>
                  <a:pt x="0" y="11366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5" name="Shape 23"/>
          <p:cNvSpPr/>
          <p:nvPr/>
        </p:nvSpPr>
        <p:spPr>
          <a:xfrm>
            <a:off x="11702256" y="5505450"/>
            <a:ext cx="489744" cy="1352550"/>
          </a:xfrm>
          <a:custGeom>
            <a:avLst/>
            <a:gdLst/>
            <a:ahLst/>
            <a:cxnLst/>
            <a:rect l="l" t="t" r="r" b="b"/>
            <a:pathLst>
              <a:path w="489744" h="1352550">
                <a:moveTo>
                  <a:pt x="19050" y="0"/>
                </a:moveTo>
                <a:lnTo>
                  <a:pt x="470694" y="0"/>
                </a:lnTo>
                <a:arcTo hR="19050" wR="19050" stAng="16200000" swAng="5400000"/>
                <a:lnTo>
                  <a:pt x="489744" y="1352550"/>
                </a:lnTo>
                <a:lnTo>
                  <a:pt x="0" y="1352550"/>
                </a:lnTo>
                <a:lnTo>
                  <a:pt x="0" y="19050"/>
                </a:lnTo>
                <a:arcTo hR="19050" wR="19050" stAng="10800000" swAng="5400000"/>
                <a:close/>
              </a:path>
            </a:pathLst>
          </a:custGeom>
          <a:gradFill rotWithShape="1">
            <a:gsLst>
              <a:gs pos="0">
                <a:srgbClr val="4A90B8">
                  <a:alpha val="10000"/>
                </a:srgbClr>
              </a:gs>
              <a:gs pos="100000">
                <a:srgbClr val="5BBFB5">
                  <a:alpha val="10000"/>
                </a:srgbClr>
              </a:gs>
            </a:gsLst>
            <a:lin ang="5400000" scaled="0"/>
          </a:gradFill>
          <a:ln/>
        </p:spPr>
      </p:sp>
      <p:sp>
        <p:nvSpPr>
          <p:cNvPr id="26" name="Text 24"/>
          <p:cNvSpPr/>
          <p:nvPr>
            <p:ph type="title"/>
          </p:nvPr>
        </p:nvSpPr>
        <p:spPr>
          <a:xfrm>
            <a:off x="812800" y="81280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0F4F8"/>
                </a:solidFill>
                <a:latin typeface="Familjen Grotesk" pitchFamily="34" charset="0"/>
                <a:ea typeface="Familjen Grotesk" pitchFamily="34" charset="-122"/>
                <a:cs typeface="Familjen Grotesk" pitchFamily="34" charset="-120"/>
              </a:rPr>
              <a:t>How we know it's right</a:t>
            </a:r>
            <a:endParaRPr lang="en-US" sz="3600" dirty="0"/>
          </a:p>
        </p:txBody>
      </p:sp>
      <p:sp>
        <p:nvSpPr>
          <p:cNvPr id="27" name="Shape 25"/>
          <p:cNvSpPr/>
          <p:nvPr/>
        </p:nvSpPr>
        <p:spPr>
          <a:xfrm>
            <a:off x="812800" y="3651250"/>
            <a:ext cx="3318966" cy="0"/>
          </a:xfrm>
          <a:prstGeom prst="line">
            <a:avLst/>
          </a:prstGeom>
          <a:noFill/>
          <a:ln w="25400">
            <a:solidFill>
              <a:srgbClr val="5BBFB5"/>
            </a:solidFill>
            <a:prstDash val="solid"/>
          </a:ln>
        </p:spPr>
      </p:sp>
      <p:sp>
        <p:nvSpPr>
          <p:cNvPr id="28" name="Text 26"/>
          <p:cNvSpPr/>
          <p:nvPr/>
        </p:nvSpPr>
        <p:spPr>
          <a:xfrm>
            <a:off x="812800" y="3816350"/>
            <a:ext cx="3418535" cy="8382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5BBFB5"/>
                </a:solidFill>
                <a:latin typeface="Familjen Grotesk" pitchFamily="34" charset="0"/>
                <a:ea typeface="Familjen Grotesk" pitchFamily="34" charset="-122"/>
                <a:cs typeface="Familjen Grotesk" pitchFamily="34" charset="-120"/>
              </a:rPr>
              <a:t>1.00</a:t>
            </a:r>
            <a:endParaRPr lang="en-US" sz="6400" dirty="0"/>
          </a:p>
        </p:txBody>
      </p:sp>
      <p:sp>
        <p:nvSpPr>
          <p:cNvPr id="29" name="Text 27"/>
          <p:cNvSpPr/>
          <p:nvPr/>
        </p:nvSpPr>
        <p:spPr>
          <a:xfrm>
            <a:off x="812800" y="4730750"/>
            <a:ext cx="3418535" cy="54610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recall and precision on the labelled starter kit, 51 code assets</a:t>
            </a:r>
            <a:endParaRPr lang="en-US" sz="1600" dirty="0"/>
          </a:p>
        </p:txBody>
      </p:sp>
      <p:sp>
        <p:nvSpPr>
          <p:cNvPr id="30" name="Text 28"/>
          <p:cNvSpPr/>
          <p:nvPr/>
        </p:nvSpPr>
        <p:spPr>
          <a:xfrm>
            <a:off x="812800" y="5353050"/>
            <a:ext cx="3418535" cy="4826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ABBCC"/>
                </a:solidFill>
                <a:latin typeface="Familjen Grotesk" pitchFamily="34" charset="0"/>
                <a:ea typeface="Familjen Grotesk" pitchFamily="34" charset="-122"/>
                <a:cs typeface="Familjen Grotesk" pitchFamily="34" charset="-120"/>
              </a:rPr>
              <a:t>Other open-source scanners on the same kit: recall 14 to 53 percent</a:t>
            </a:r>
            <a:endParaRPr lang="en-US" sz="1400" dirty="0"/>
          </a:p>
        </p:txBody>
      </p:sp>
      <p:sp>
        <p:nvSpPr>
          <p:cNvPr id="31" name="Shape 29"/>
          <p:cNvSpPr/>
          <p:nvPr/>
        </p:nvSpPr>
        <p:spPr>
          <a:xfrm>
            <a:off x="4436566" y="3651250"/>
            <a:ext cx="3318966" cy="0"/>
          </a:xfrm>
          <a:prstGeom prst="line">
            <a:avLst/>
          </a:prstGeom>
          <a:noFill/>
          <a:ln w="25400">
            <a:solidFill>
              <a:srgbClr val="5BBFB5"/>
            </a:solidFill>
            <a:prstDash val="solid"/>
          </a:ln>
        </p:spPr>
      </p:sp>
      <p:sp>
        <p:nvSpPr>
          <p:cNvPr id="32" name="Text 30"/>
          <p:cNvSpPr/>
          <p:nvPr/>
        </p:nvSpPr>
        <p:spPr>
          <a:xfrm>
            <a:off x="4436566" y="3816350"/>
            <a:ext cx="3418535" cy="8382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5BBFB5"/>
                </a:solidFill>
                <a:latin typeface="Familjen Grotesk" pitchFamily="34" charset="0"/>
                <a:ea typeface="Familjen Grotesk" pitchFamily="34" charset="-122"/>
                <a:cs typeface="Familjen Grotesk" pitchFamily="34" charset="-120"/>
              </a:rPr>
              <a:t>7.6x</a:t>
            </a:r>
            <a:endParaRPr lang="en-US" sz="6400" dirty="0"/>
          </a:p>
        </p:txBody>
      </p:sp>
      <p:sp>
        <p:nvSpPr>
          <p:cNvPr id="33" name="Text 31"/>
          <p:cNvSpPr/>
          <p:nvPr/>
        </p:nvSpPr>
        <p:spPr>
          <a:xfrm>
            <a:off x="4436566" y="4730750"/>
            <a:ext cx="3418535" cy="80645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more cryptographic sites found than the next tool, on 32 real open-source projects</a:t>
            </a:r>
            <a:endParaRPr lang="en-US" sz="1600" dirty="0"/>
          </a:p>
        </p:txBody>
      </p:sp>
      <p:sp>
        <p:nvSpPr>
          <p:cNvPr id="34" name="Text 32"/>
          <p:cNvSpPr/>
          <p:nvPr/>
        </p:nvSpPr>
        <p:spPr>
          <a:xfrm>
            <a:off x="4436566" y="5613400"/>
            <a:ext cx="3418535" cy="2540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ABBCC"/>
                </a:solidFill>
                <a:latin typeface="Familjen Grotesk" pitchFamily="34" charset="0"/>
                <a:ea typeface="Familjen Grotesk" pitchFamily="34" charset="-122"/>
                <a:cs typeface="Familjen Grotesk" pitchFamily="34" charset="-120"/>
              </a:rPr>
              <a:t>1,851 sites against 243</a:t>
            </a:r>
            <a:endParaRPr lang="en-US" sz="1400" dirty="0"/>
          </a:p>
        </p:txBody>
      </p:sp>
      <p:sp>
        <p:nvSpPr>
          <p:cNvPr id="35" name="Shape 33"/>
          <p:cNvSpPr/>
          <p:nvPr/>
        </p:nvSpPr>
        <p:spPr>
          <a:xfrm>
            <a:off x="8060333" y="3651250"/>
            <a:ext cx="3318966" cy="0"/>
          </a:xfrm>
          <a:prstGeom prst="line">
            <a:avLst/>
          </a:prstGeom>
          <a:noFill/>
          <a:ln w="25400">
            <a:solidFill>
              <a:srgbClr val="5BBFB5"/>
            </a:solidFill>
            <a:prstDash val="solid"/>
          </a:ln>
        </p:spPr>
      </p:sp>
      <p:sp>
        <p:nvSpPr>
          <p:cNvPr id="36" name="Text 34"/>
          <p:cNvSpPr/>
          <p:nvPr/>
        </p:nvSpPr>
        <p:spPr>
          <a:xfrm>
            <a:off x="8060333" y="3816350"/>
            <a:ext cx="3418535" cy="838200"/>
          </a:xfrm>
          <a:prstGeom prst="rect">
            <a:avLst/>
          </a:prstGeom>
          <a:noFill/>
          <a:ln/>
        </p:spPr>
        <p:txBody>
          <a:bodyPr wrap="square" lIns="0" tIns="0" rIns="0" bIns="0" rtlCol="0" anchor="t">
            <a:normAutofit/>
          </a:bodyPr>
          <a:lstStyle/>
          <a:p>
            <a:pPr algn="l" indent="0" marL="0">
              <a:lnSpc>
                <a:spcPts val="6400"/>
              </a:lnSpc>
              <a:buNone/>
            </a:pPr>
            <a:r>
              <a:rPr lang="en-US" sz="6400" b="1" spc="-150" kern="0" dirty="0">
                <a:solidFill>
                  <a:srgbClr val="5BBFB5"/>
                </a:solidFill>
                <a:latin typeface="Familjen Grotesk" pitchFamily="34" charset="0"/>
                <a:ea typeface="Familjen Grotesk" pitchFamily="34" charset="-122"/>
                <a:cs typeface="Familjen Grotesk" pitchFamily="34" charset="-120"/>
              </a:rPr>
              <a:t>2,000+</a:t>
            </a:r>
            <a:endParaRPr lang="en-US" sz="6400" dirty="0"/>
          </a:p>
        </p:txBody>
      </p:sp>
      <p:sp>
        <p:nvSpPr>
          <p:cNvPr id="37" name="Text 35"/>
          <p:cNvSpPr/>
          <p:nvPr/>
        </p:nvSpPr>
        <p:spPr>
          <a:xfrm>
            <a:off x="8060333" y="4730750"/>
            <a:ext cx="3418535" cy="54610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0F4F8"/>
                </a:solidFill>
                <a:latin typeface="Familjen Grotesk" pitchFamily="34" charset="0"/>
                <a:ea typeface="Familjen Grotesk" pitchFamily="34" charset="-122"/>
                <a:cs typeface="Familjen Grotesk" pitchFamily="34" charset="-120"/>
              </a:rPr>
              <a:t>tests pass, and the golden gate matches 1,111 of 1,111 rows</a:t>
            </a:r>
            <a:endParaRPr lang="en-US" sz="1600" dirty="0"/>
          </a:p>
        </p:txBody>
      </p:sp>
      <p:sp>
        <p:nvSpPr>
          <p:cNvPr id="38" name="Text 36"/>
          <p:cNvSpPr/>
          <p:nvPr/>
        </p:nvSpPr>
        <p:spPr>
          <a:xfrm>
            <a:off x="8060333" y="5353050"/>
            <a:ext cx="3418535" cy="25400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ABBCC"/>
                </a:solidFill>
                <a:latin typeface="Familjen Grotesk" pitchFamily="34" charset="0"/>
                <a:ea typeface="Familjen Grotesk" pitchFamily="34" charset="-122"/>
                <a:cs typeface="Familjen Grotesk" pitchFamily="34" charset="-120"/>
              </a:rPr>
              <a:t>An automated gate runs before every merge</a:t>
            </a:r>
            <a:endParaRPr lang="en-US" sz="1400" dirty="0"/>
          </a:p>
        </p:txBody>
      </p:sp>
      <p:sp>
        <p:nvSpPr>
          <p:cNvPr id="39" name="Text 3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ABBCC"/>
                </a:solidFill>
                <a:latin typeface="DM Mono" pitchFamily="49" charset="0"/>
                <a:ea typeface="DM Mono" pitchFamily="49" charset="-122"/>
                <a:cs typeface="DM Mono" pitchFamily="49" charset="-120"/>
              </a:rPr>
              <a:t>Outside the kit there is no answer key: the 7.6x figure measures coverage, not accuracy.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3429000"/>
            <a:ext cx="12192000" cy="6350"/>
          </a:xfrm>
          <a:prstGeom prst="rect">
            <a:avLst/>
          </a:prstGeom>
          <a:solidFill>
            <a:srgbClr val="1A1F2E">
              <a:alpha val="8000"/>
            </a:srgbClr>
          </a:solidFill>
          <a:ln/>
        </p:spPr>
      </p:sp>
      <p:sp>
        <p:nvSpPr>
          <p:cNvPr id="3" name="Shape 1"/>
          <p:cNvSpPr/>
          <p:nvPr/>
        </p:nvSpPr>
        <p:spPr>
          <a:xfrm>
            <a:off x="6096000" y="0"/>
            <a:ext cx="6350" cy="6858000"/>
          </a:xfrm>
          <a:prstGeom prst="rect">
            <a:avLst/>
          </a:prstGeom>
          <a:solidFill>
            <a:srgbClr val="1A1F2E">
              <a:alpha val="8000"/>
            </a:srgbClr>
          </a:solidFill>
          <a:ln/>
        </p:spPr>
      </p:sp>
      <p:sp>
        <p:nvSpPr>
          <p:cNvPr id="4" name="Shape 2"/>
          <p:cNvSpPr/>
          <p:nvPr/>
        </p:nvSpPr>
        <p:spPr>
          <a:xfrm>
            <a:off x="228600" y="241300"/>
            <a:ext cx="254000" cy="0"/>
          </a:xfrm>
          <a:prstGeom prst="line">
            <a:avLst/>
          </a:prstGeom>
          <a:noFill/>
          <a:ln w="25400">
            <a:solidFill>
              <a:srgbClr val="1A1F2E"/>
            </a:solidFill>
            <a:prstDash val="solid"/>
          </a:ln>
        </p:spPr>
      </p:sp>
      <p:sp>
        <p:nvSpPr>
          <p:cNvPr id="5" name="Shape 3"/>
          <p:cNvSpPr/>
          <p:nvPr/>
        </p:nvSpPr>
        <p:spPr>
          <a:xfrm>
            <a:off x="241300" y="228600"/>
            <a:ext cx="0" cy="254000"/>
          </a:xfrm>
          <a:prstGeom prst="line">
            <a:avLst/>
          </a:prstGeom>
          <a:noFill/>
          <a:ln w="25400">
            <a:solidFill>
              <a:srgbClr val="1A1F2E"/>
            </a:solidFill>
            <a:prstDash val="solid"/>
          </a:ln>
        </p:spPr>
      </p:sp>
      <p:sp>
        <p:nvSpPr>
          <p:cNvPr id="6" name="Shape 4"/>
          <p:cNvSpPr/>
          <p:nvPr/>
        </p:nvSpPr>
        <p:spPr>
          <a:xfrm>
            <a:off x="11709400" y="241300"/>
            <a:ext cx="254000" cy="0"/>
          </a:xfrm>
          <a:prstGeom prst="line">
            <a:avLst/>
          </a:prstGeom>
          <a:noFill/>
          <a:ln w="25400">
            <a:solidFill>
              <a:srgbClr val="1A1F2E"/>
            </a:solidFill>
            <a:prstDash val="solid"/>
          </a:ln>
        </p:spPr>
      </p:sp>
      <p:sp>
        <p:nvSpPr>
          <p:cNvPr id="7" name="Shape 5"/>
          <p:cNvSpPr/>
          <p:nvPr/>
        </p:nvSpPr>
        <p:spPr>
          <a:xfrm>
            <a:off x="11950700" y="228600"/>
            <a:ext cx="0" cy="254000"/>
          </a:xfrm>
          <a:prstGeom prst="line">
            <a:avLst/>
          </a:prstGeom>
          <a:noFill/>
          <a:ln w="25400">
            <a:solidFill>
              <a:srgbClr val="1A1F2E"/>
            </a:solidFill>
            <a:prstDash val="solid"/>
          </a:ln>
        </p:spPr>
      </p:sp>
      <p:sp>
        <p:nvSpPr>
          <p:cNvPr id="8" name="Shape 6"/>
          <p:cNvSpPr/>
          <p:nvPr/>
        </p:nvSpPr>
        <p:spPr>
          <a:xfrm>
            <a:off x="228600" y="6616700"/>
            <a:ext cx="254000" cy="0"/>
          </a:xfrm>
          <a:prstGeom prst="line">
            <a:avLst/>
          </a:prstGeom>
          <a:noFill/>
          <a:ln w="25400">
            <a:solidFill>
              <a:srgbClr val="1A1F2E"/>
            </a:solidFill>
            <a:prstDash val="solid"/>
          </a:ln>
        </p:spPr>
      </p:sp>
      <p:sp>
        <p:nvSpPr>
          <p:cNvPr id="9" name="Shape 7"/>
          <p:cNvSpPr/>
          <p:nvPr/>
        </p:nvSpPr>
        <p:spPr>
          <a:xfrm>
            <a:off x="241300" y="6375400"/>
            <a:ext cx="0" cy="254000"/>
          </a:xfrm>
          <a:prstGeom prst="line">
            <a:avLst/>
          </a:prstGeom>
          <a:noFill/>
          <a:ln w="25400">
            <a:solidFill>
              <a:srgbClr val="1A1F2E"/>
            </a:solidFill>
            <a:prstDash val="solid"/>
          </a:ln>
        </p:spPr>
      </p:sp>
      <p:sp>
        <p:nvSpPr>
          <p:cNvPr id="10" name="Shape 8"/>
          <p:cNvSpPr/>
          <p:nvPr/>
        </p:nvSpPr>
        <p:spPr>
          <a:xfrm>
            <a:off x="11950700" y="6375400"/>
            <a:ext cx="0" cy="254000"/>
          </a:xfrm>
          <a:prstGeom prst="line">
            <a:avLst/>
          </a:prstGeom>
          <a:noFill/>
          <a:ln w="25400">
            <a:solidFill>
              <a:srgbClr val="1A1F2E"/>
            </a:solidFill>
            <a:prstDash val="solid"/>
          </a:ln>
        </p:spPr>
      </p:sp>
      <p:sp>
        <p:nvSpPr>
          <p:cNvPr id="11" name="Shape 9"/>
          <p:cNvSpPr/>
          <p:nvPr/>
        </p:nvSpPr>
        <p:spPr>
          <a:xfrm>
            <a:off x="11709400" y="6616700"/>
            <a:ext cx="254000" cy="0"/>
          </a:xfrm>
          <a:prstGeom prst="line">
            <a:avLst/>
          </a:prstGeom>
          <a:noFill/>
          <a:ln w="25400">
            <a:solidFill>
              <a:srgbClr val="1A1F2E"/>
            </a:solidFill>
            <a:prstDash val="solid"/>
          </a:ln>
        </p:spPr>
      </p:sp>
      <p:sp>
        <p:nvSpPr>
          <p:cNvPr id="12" name="Text 1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1A1F2E"/>
                </a:solidFill>
                <a:latin typeface="DM Mono" pitchFamily="49" charset="0"/>
                <a:ea typeface="DM Mono" pitchFamily="49" charset="-122"/>
                <a:cs typeface="DM Mono" pitchFamily="49" charset="-120"/>
              </a:rPr>
              <a:t>QUANTUMTRACE</a:t>
            </a:r>
            <a:endParaRPr lang="en-US" sz="1400" dirty="0"/>
          </a:p>
        </p:txBody>
      </p:sp>
      <p:sp>
        <p:nvSpPr>
          <p:cNvPr id="13" name="Text 11"/>
          <p:cNvSpPr/>
          <p:nvPr/>
        </p:nvSpPr>
        <p:spPr>
          <a:xfrm>
            <a:off x="812800" y="183832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1A1F2E"/>
                </a:solidFill>
                <a:latin typeface="Familjen Grotesk" pitchFamily="34" charset="0"/>
                <a:ea typeface="Familjen Grotesk" pitchFamily="34" charset="-122"/>
                <a:cs typeface="Familjen Grotesk" pitchFamily="34" charset="-120"/>
              </a:rPr>
              <a:t>Today: one command.</a:t>
            </a:r>
            <a:endParaRPr lang="en-US" sz="6000" dirty="0"/>
          </a:p>
        </p:txBody>
      </p:sp>
      <p:sp>
        <p:nvSpPr>
          <p:cNvPr id="14" name="Text 12"/>
          <p:cNvSpPr/>
          <p:nvPr/>
        </p:nvSpPr>
        <p:spPr>
          <a:xfrm>
            <a:off x="812800" y="279082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1A1F2E"/>
                </a:solidFill>
                <a:latin typeface="Familjen Grotesk" pitchFamily="34" charset="0"/>
                <a:ea typeface="Familjen Grotesk" pitchFamily="34" charset="-122"/>
                <a:cs typeface="Familjen Grotesk" pitchFamily="34" charset="-120"/>
              </a:rPr>
              <a:t>Tomorrow: every pull request.</a:t>
            </a:r>
            <a:endParaRPr lang="en-US" sz="6000" dirty="0"/>
          </a:p>
        </p:txBody>
      </p:sp>
      <p:sp>
        <p:nvSpPr>
          <p:cNvPr id="15" name="Shape 13"/>
          <p:cNvSpPr/>
          <p:nvPr/>
        </p:nvSpPr>
        <p:spPr>
          <a:xfrm>
            <a:off x="822325" y="4378325"/>
            <a:ext cx="4806950" cy="552450"/>
          </a:xfrm>
          <a:prstGeom prst="roundRect">
            <a:avLst>
              <a:gd name="adj" fmla="val 12069"/>
            </a:avLst>
          </a:prstGeom>
          <a:noFill/>
          <a:ln w="19050">
            <a:solidFill>
              <a:srgbClr val="1A1F2E"/>
            </a:solidFill>
            <a:prstDash val="solid"/>
          </a:ln>
        </p:spPr>
      </p:sp>
      <p:sp>
        <p:nvSpPr>
          <p:cNvPr id="16" name="Text 14"/>
          <p:cNvSpPr/>
          <p:nvPr/>
        </p:nvSpPr>
        <p:spPr>
          <a:xfrm>
            <a:off x="1009650" y="4514850"/>
            <a:ext cx="4565269"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F2E"/>
                </a:solidFill>
                <a:latin typeface="DM Mono" pitchFamily="49" charset="0"/>
                <a:ea typeface="DM Mono" pitchFamily="49" charset="-122"/>
                <a:cs typeface="DM Mono" pitchFamily="49" charset="-120"/>
              </a:rPr>
              <a:t>scripts/demo.sh --docker</a:t>
            </a:r>
            <a:endParaRPr lang="en-US" sz="1600" dirty="0"/>
          </a:p>
        </p:txBody>
      </p:sp>
      <p:sp>
        <p:nvSpPr>
          <p:cNvPr id="17" name="Text 15"/>
          <p:cNvSpPr/>
          <p:nvPr/>
        </p:nvSpPr>
        <p:spPr>
          <a:xfrm>
            <a:off x="812800" y="514350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i="1" dirty="0">
                <a:solidFill>
                  <a:srgbClr val="1A1F2E"/>
                </a:solidFill>
                <a:latin typeface="Piazzolla" pitchFamily="18" charset="0"/>
                <a:ea typeface="Piazzolla" pitchFamily="18" charset="-122"/>
                <a:cs typeface="Piazzolla" pitchFamily="18" charset="-120"/>
              </a:rPr>
              <a:t>Regulators will ask where your cryptography is. With QuantumTrace, the answer is already on screen.</a:t>
            </a:r>
            <a:endParaRPr lang="en-US" sz="2200" dirty="0"/>
          </a:p>
        </p:txBody>
      </p:sp>
    </p:spTree>
  </p:cSld>
  <p:clrMapOvr>
    <a:masterClrMapping/>
  </p:clrMapOvr>
</p:sld>
</file>

<file path=ppt/theme/theme1.xml><?xml version="1.0" encoding="utf-8"?>
<a:theme xmlns:a="http://schemas.openxmlformats.org/drawingml/2006/main" name="QuantumTrace Pitch">
  <a:themeElements>
    <a:clrScheme name="QuantumTrace Pitch">
      <a:dk1>
        <a:srgbClr val="1A1F2E"/>
      </a:dk1>
      <a:lt1>
        <a:srgbClr val="F0F4F8"/>
      </a:lt1>
      <a:dk2>
        <a:srgbClr val="2F3442"/>
      </a:dk2>
      <a:lt2>
        <a:srgbClr val="BBBFC6"/>
      </a:lt2>
      <a:accent1>
        <a:srgbClr val="5BBFB5"/>
      </a:accent1>
      <a:accent2>
        <a:srgbClr val="4A90B8"/>
      </a:accent2>
      <a:accent3>
        <a:srgbClr val="EE6368"/>
      </a:accent3>
      <a:accent4>
        <a:srgbClr val="F28C28"/>
      </a:accent4>
      <a:accent5>
        <a:srgbClr val="4CAF82"/>
      </a:accent5>
      <a:accent6>
        <a:srgbClr val="AABBCC"/>
      </a:accent6>
      <a:hlink>
        <a:srgbClr val="0563C1"/>
      </a:hlink>
      <a:folHlink>
        <a:srgbClr val="954F72"/>
      </a:folHlink>
    </a:clrScheme>
    <a:fontScheme name="QuantumTrace Pitch">
      <a:majorFont>
        <a:latin typeface="Familjen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amiljen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QuantumTrace Pitch</dc:title>
  <dc:subject/>
  <dc:creator/>
  <cp:lastModifiedBy/>
  <cp:revision>1</cp:revision>
  <dcterms:created xsi:type="dcterms:W3CDTF">2026-10-11T10:52:13Z</dcterms:created>
  <dcterms:modified xsi:type="dcterms:W3CDTF">2026-10-11T10:52:13Z</dcterms:modified>
</cp:coreProperties>
</file>